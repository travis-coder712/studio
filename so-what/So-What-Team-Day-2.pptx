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298448"/>
            <a:ext cx="502920" cy="4572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8132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4A4BD6"/>
                </a:solidFill>
                <a:latin typeface="Consolas"/>
              </a:rPr>
              <a:t>POWER DEVELOPMENT · TEAM DAY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10607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1" i="0">
                <a:solidFill>
                  <a:srgbClr val="111820"/>
                </a:solidFill>
                <a:latin typeface="Calibri"/>
              </a:rPr>
              <a:t>So What?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0">
                <a:solidFill>
                  <a:srgbClr val="37424F"/>
                </a:solidFill>
                <a:latin typeface="Calibri"/>
              </a:rPr>
              <a:t>Now that we know how the market works — what do we do differently?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1480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You sit in your </a:t>
            </a:r>
            <a:r>
              <a:rPr sz="1600" b="1" i="0">
                <a:solidFill>
                  <a:srgbClr val="4A4BD6"/>
                </a:solidFill>
                <a:latin typeface="Calibri"/>
              </a:rPr>
              <a:t>function</a:t>
            </a:r>
            <a:r>
              <a:rPr sz="1600" b="0" i="0">
                <a:solidFill>
                  <a:srgbClr val="37424F"/>
                </a:solidFill>
                <a:latin typeface="Calibri"/>
              </a:rPr>
              <a:t>. Each person brings </a:t>
            </a:r>
            <a:r>
              <a:rPr sz="1600" b="1" i="0">
                <a:solidFill>
                  <a:srgbClr val="4A4BD6"/>
                </a:solidFill>
                <a:latin typeface="Calibri"/>
              </a:rPr>
              <a:t>one Stop · one Start · one Continue</a:t>
            </a:r>
            <a:r>
              <a:rPr sz="1600" b="0" i="0">
                <a:solidFill>
                  <a:srgbClr val="37424F"/>
                </a:solidFill>
                <a:latin typeface="Calibri"/>
              </a:rPr>
              <a:t> — you vote, and make one real.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So What? · Power Development Team Day 2 · the companion to “Reading the NEM”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4A4BD6"/>
                </a:solidFill>
                <a:latin typeface="Consolas"/>
              </a:rPr>
              <a:t>HOW THIS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111820"/>
                </a:solidFill>
                <a:latin typeface="Calibri"/>
              </a:rPr>
              <a:t>One hour — one idea from each of us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45920"/>
            <a:ext cx="11155680" cy="4572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37360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4A4BD6"/>
                </a:solidFill>
                <a:latin typeface="Consolas"/>
              </a:rPr>
              <a:t>0:00–0:08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0280" y="1719072"/>
            <a:ext cx="7772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37424F"/>
                </a:solidFill>
                <a:latin typeface="Calibri"/>
              </a:rPr>
              <a:t>Frame — Day-1 recap → the Balance → the mechanic → the challenge.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95560" y="1737360"/>
            <a:ext cx="1325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66717F"/>
                </a:solidFill>
                <a:latin typeface="Consolas"/>
              </a:rPr>
              <a:t>PRESENTER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171700"/>
            <a:ext cx="11155680" cy="4572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263140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4A4BD6"/>
                </a:solidFill>
                <a:latin typeface="Consolas"/>
              </a:rPr>
              <a:t>0:08–0:20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0280" y="2244852"/>
            <a:ext cx="7772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37424F"/>
                </a:solidFill>
                <a:latin typeface="Calibri"/>
              </a:rPr>
              <a:t>Introspect, solo — each person writes their own three: one Stop, one Start, one Continue.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95560" y="2263140"/>
            <a:ext cx="1325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66717F"/>
                </a:solidFill>
                <a:latin typeface="Consolas"/>
              </a:rPr>
              <a:t>INDIVIDUALS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697480"/>
            <a:ext cx="11155680" cy="4572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788920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4A4BD6"/>
                </a:solidFill>
                <a:latin typeface="Consolas"/>
              </a:rPr>
              <a:t>0:20–0:35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40280" y="2770632"/>
            <a:ext cx="7772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37424F"/>
                </a:solidFill>
                <a:latin typeface="Calibri"/>
              </a:rPr>
              <a:t>Share &amp; vote — round the table, then dot-vote your group's best two in each.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5560" y="2788920"/>
            <a:ext cx="1325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66717F"/>
                </a:solidFill>
                <a:latin typeface="Consolas"/>
              </a:rPr>
              <a:t>GROUP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223260"/>
            <a:ext cx="11155680" cy="4572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3314700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4A4BD6"/>
                </a:solidFill>
                <a:latin typeface="Consolas"/>
              </a:rPr>
              <a:t>0:35–0:45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40280" y="3296412"/>
            <a:ext cx="7772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37424F"/>
                </a:solidFill>
                <a:latin typeface="Calibri"/>
              </a:rPr>
              <a:t>Report back — each group's top two Stop / Start / Continue to the room.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5560" y="3314700"/>
            <a:ext cx="1325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66717F"/>
                </a:solidFill>
                <a:latin typeface="Consolas"/>
              </a:rPr>
              <a:t>ROOM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749040"/>
            <a:ext cx="11155680" cy="4572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3840480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4A4BD6"/>
                </a:solidFill>
                <a:latin typeface="Consolas"/>
              </a:rPr>
              <a:t>0:45–0:55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40280" y="3822192"/>
            <a:ext cx="7772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37424F"/>
                </a:solidFill>
                <a:latin typeface="Calibri"/>
              </a:rPr>
              <a:t>Make one real — take your best Start and fill the canvas: owner, first step, signal.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5560" y="3840480"/>
            <a:ext cx="1325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66717F"/>
                </a:solidFill>
                <a:latin typeface="Consolas"/>
              </a:rPr>
              <a:t>GROUP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274820"/>
            <a:ext cx="11155680" cy="4572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4366260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4A4BD6"/>
                </a:solidFill>
                <a:latin typeface="Consolas"/>
              </a:rPr>
              <a:t>0:55–1:00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40280" y="4347972"/>
            <a:ext cx="7772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37424F"/>
                </a:solidFill>
                <a:latin typeface="Calibri"/>
              </a:rPr>
              <a:t>Commit — lock owners + 30-day first steps; set the 90-day review.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5560" y="4366260"/>
            <a:ext cx="1325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66717F"/>
                </a:solidFill>
                <a:latin typeface="Consolas"/>
              </a:rPr>
              <a:t>ALL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937760"/>
            <a:ext cx="11155680" cy="960120"/>
          </a:xfrm>
          <a:prstGeom prst="rect">
            <a:avLst/>
          </a:prstGeom>
          <a:solidFill>
            <a:srgbClr val="E9E9FB"/>
          </a:solidFill>
          <a:ln w="9525">
            <a:solidFill>
              <a:srgbClr val="4A4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" y="5047488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4A4BD6"/>
                </a:solidFill>
                <a:latin typeface="Consolas"/>
              </a:rPr>
              <a:t>THE MECHANIC — STOP · START · CONTINUE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" y="5321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111820"/>
                </a:solidFill>
                <a:latin typeface="Calibri"/>
              </a:rPr>
              <a:t>Each person brings three — one of each. </a:t>
            </a:r>
            <a:r>
              <a:rPr sz="1350" b="0" i="0">
                <a:solidFill>
                  <a:srgbClr val="37424F"/>
                </a:solidFill>
                <a:latin typeface="Calibri"/>
              </a:rPr>
              <a:t>We have the resources, so this isn't a cutting exercise: lead with what to start, be honest about what to stop, protect what's working. Ideas can come from the day or your own read.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035040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6717F"/>
                </a:solidFill>
                <a:latin typeface="Calibri"/>
              </a:rPr>
              <a:t>Seating: functional teams — Development · Analysis · Land &amp; Planning · Structured Bids · Commercial · Technical.  Groups of 5 max — if a function is larger, split and report separately.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41908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So What? · Power Development Team Day 2 · the companion to “Reading the NEM”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8A8BF0"/>
                </a:solidFill>
                <a:latin typeface="Consolas"/>
              </a:rPr>
              <a:t>THE CHALLENGE UNDERNEATH THE WHOLE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607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FFFFFF"/>
                </a:solidFill>
                <a:latin typeface="Calibri"/>
              </a:rPr>
              <a:t>If we're to be the best development team in the country — what should we start, stop and continue?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8912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C2CAD4"/>
                </a:solidFill>
                <a:latin typeface="Calibri"/>
              </a:rPr>
              <a:t>And its sharper, inverted twin: </a:t>
            </a:r>
            <a:r>
              <a:rPr sz="1800" b="1" i="1">
                <a:solidFill>
                  <a:srgbClr val="8A8BF0"/>
                </a:solidFill>
                <a:latin typeface="Calibri"/>
              </a:rPr>
              <a:t>what would guarantee we're not the best — and are we doing any of it?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4A4BD6"/>
                </a:solidFill>
                <a:latin typeface="Consolas"/>
              </a:rPr>
              <a:t>THE FRAME FOR THE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111820"/>
                </a:solidFill>
                <a:latin typeface="Calibri"/>
              </a:rPr>
              <a:t>The Balance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11064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111820"/>
                </a:solidFill>
                <a:latin typeface="Calibri"/>
              </a:rPr>
              <a:t>For every project we're balancing the asset's fundamentals against a few forces — and the one we spent yesterday reading is the market.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110642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700" b="1">
                <a:solidFill>
                  <a:srgbClr val="4A4BD6"/>
                </a:solidFill>
                <a:latin typeface="Calibri"/>
              </a:rPr>
              <a:t>›  </a:t>
            </a:r>
            <a:r>
              <a:rPr sz="1700" b="1">
                <a:solidFill>
                  <a:srgbClr val="111820"/>
                </a:solidFill>
                <a:latin typeface="Calibri"/>
              </a:rPr>
              <a:t>Day 1 was our deep look at that force</a:t>
            </a:r>
            <a:r>
              <a:rPr sz="1700" b="0">
                <a:solidFill>
                  <a:srgbClr val="37424F"/>
                </a:solidFill>
                <a:latin typeface="Calibri"/>
              </a:rPr>
              <a:t> — what the market rewards, and when.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700" b="1">
                <a:solidFill>
                  <a:srgbClr val="4A4BD6"/>
                </a:solidFill>
                <a:latin typeface="Calibri"/>
              </a:rPr>
              <a:t>›  </a:t>
            </a:r>
            <a:r>
              <a:rPr sz="1700" b="1">
                <a:solidFill>
                  <a:srgbClr val="111820"/>
                </a:solidFill>
                <a:latin typeface="Calibri"/>
              </a:rPr>
              <a:t>Today's job:</a:t>
            </a:r>
            <a:r>
              <a:rPr sz="1700" b="0">
                <a:solidFill>
                  <a:srgbClr val="37424F"/>
                </a:solidFill>
                <a:latin typeface="Calibri"/>
              </a:rPr>
              <a:t> let that read re-rank, re-time and re-screen what we develop and how.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700" b="1">
                <a:solidFill>
                  <a:srgbClr val="4A4BD6"/>
                </a:solidFill>
                <a:latin typeface="Calibri"/>
              </a:rPr>
              <a:t>›  </a:t>
            </a:r>
            <a:r>
              <a:rPr sz="1700" b="1">
                <a:solidFill>
                  <a:srgbClr val="111820"/>
                </a:solidFill>
                <a:latin typeface="Calibri"/>
              </a:rPr>
              <a:t>Policy</a:t>
            </a:r>
            <a:r>
              <a:rPr sz="1700" b="0">
                <a:solidFill>
                  <a:srgbClr val="37424F"/>
                </a:solidFill>
                <a:latin typeface="Calibri"/>
              </a:rPr>
              <a:t> is a real force too; </a:t>
            </a:r>
            <a:r>
              <a:rPr sz="1700" b="1">
                <a:solidFill>
                  <a:srgbClr val="111820"/>
                </a:solidFill>
                <a:latin typeface="Calibri"/>
              </a:rPr>
              <a:t>capital</a:t>
            </a:r>
            <a:r>
              <a:rPr sz="1700" b="0">
                <a:solidFill>
                  <a:srgbClr val="37424F"/>
                </a:solidFill>
                <a:latin typeface="Calibri"/>
              </a:rPr>
              <a:t> is a background factor — yes, we can't do everything, but that's not what today is about.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700" b="1">
                <a:solidFill>
                  <a:srgbClr val="4A4BD6"/>
                </a:solidFill>
                <a:latin typeface="Calibri"/>
              </a:rPr>
              <a:t>›  </a:t>
            </a:r>
            <a:r>
              <a:rPr sz="1700" b="0">
                <a:solidFill>
                  <a:srgbClr val="37424F"/>
                </a:solidFill>
                <a:latin typeface="Calibri"/>
              </a:rPr>
              <a:t>The question: </a:t>
            </a:r>
            <a:r>
              <a:rPr sz="1700" b="1">
                <a:solidFill>
                  <a:srgbClr val="111820"/>
                </a:solidFill>
                <a:latin typeface="Calibri"/>
              </a:rPr>
              <a:t>what changes in how we work</a:t>
            </a:r>
            <a:r>
              <a:rPr sz="1700" b="0">
                <a:solidFill>
                  <a:srgbClr val="37424F"/>
                </a:solidFill>
                <a:latin typeface="Calibri"/>
              </a:rPr>
              <a:t>, now that we've read the market?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So What? · Power Development Team Day 2 · the companion to “Reading the NEM”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THE HORIZON CAVEAT — READ THIS BEFORE YOU “REACT” TO THE MARKET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111820"/>
                </a:solidFill>
                <a:latin typeface="Calibri"/>
              </a:rPr>
              <a:t>Development cycles are longer than market and policy cycles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06070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37424F"/>
                </a:solidFill>
                <a:latin typeface="Calibri"/>
              </a:rPr>
              <a:t>A project takes years; the market and the support settings will turn </a:t>
            </a:r>
            <a:r>
              <a:rPr sz="1900" b="1" i="0">
                <a:solidFill>
                  <a:srgbClr val="111820"/>
                </a:solidFill>
                <a:latin typeface="Calibri"/>
              </a:rPr>
              <a:t>several times</a:t>
            </a:r>
            <a:r>
              <a:rPr sz="1900" b="0" i="0">
                <a:solidFill>
                  <a:srgbClr val="37424F"/>
                </a:solidFill>
                <a:latin typeface="Calibri"/>
              </a:rPr>
              <a:t> before it reaches COD. So read today's market — but </a:t>
            </a:r>
            <a:r>
              <a:rPr sz="1900" b="1" i="0">
                <a:solidFill>
                  <a:srgbClr val="0D7D74"/>
                </a:solidFill>
                <a:latin typeface="Calibri"/>
              </a:rPr>
              <a:t>develop to a longer-term view</a:t>
            </a:r>
            <a:r>
              <a:rPr sz="1900" b="0" i="0">
                <a:solidFill>
                  <a:srgbClr val="37424F"/>
                </a:solidFill>
                <a:latin typeface="Calibri"/>
              </a:rPr>
              <a:t> of where market and company need are heading. Informed by the current setting, influenced by it, but </a:t>
            </a:r>
            <a:r>
              <a:rPr sz="1900" b="1" i="0">
                <a:solidFill>
                  <a:srgbClr val="111820"/>
                </a:solidFill>
                <a:latin typeface="Calibri"/>
              </a:rPr>
              <a:t>not captive to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12064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i="1">
                <a:solidFill>
                  <a:srgbClr val="66717F"/>
                </a:solidFill>
                <a:latin typeface="Calibri"/>
              </a:rPr>
              <a:t>The “so what” is a sharper read — not a lurch to chase this year's price.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So What? · Power Development Team Day 2 · the companion to “Reading the NEM”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4A4BD6"/>
                </a:solidFill>
                <a:latin typeface="Consolas"/>
              </a:rPr>
              <a:t>THE BALANCE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111820"/>
                </a:solidFill>
                <a:latin typeface="Calibri"/>
              </a:rPr>
              <a:t>One asset · a few forces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91640"/>
            <a:ext cx="5468112" cy="2057400"/>
          </a:xfrm>
          <a:prstGeom prst="rect">
            <a:avLst/>
          </a:prstGeom>
          <a:solidFill>
            <a:srgbClr val="F4F6F9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91440" cy="20574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74520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4A4BD6"/>
                </a:solidFill>
                <a:latin typeface="Consolas"/>
              </a:rPr>
              <a:t>The asset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58568"/>
            <a:ext cx="50292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37424F"/>
                </a:solidFill>
                <a:latin typeface="Calibri"/>
              </a:rPr>
              <a:t>Fundamentals, maturity, critical path, risk, pace — and how it ranks vs our other projects.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1691640"/>
            <a:ext cx="5468112" cy="2057400"/>
          </a:xfrm>
          <a:prstGeom prst="rect">
            <a:avLst/>
          </a:prstGeom>
          <a:solidFill>
            <a:srgbClr val="F4F6F9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691640"/>
            <a:ext cx="91440" cy="20574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874520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0D7D74"/>
                </a:solidFill>
                <a:latin typeface="Consolas"/>
              </a:rPr>
              <a:t>Force · Market  ★ yesterday's focus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258568"/>
            <a:ext cx="50292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37424F"/>
                </a:solidFill>
                <a:latin typeface="Calibri"/>
              </a:rPr>
              <a:t>The cycle, cannibalisation, firming, demand, the forward curve — the force we spent Day 1 learning to read.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977639"/>
            <a:ext cx="5468112" cy="2057400"/>
          </a:xfrm>
          <a:prstGeom prst="rect">
            <a:avLst/>
          </a:prstGeom>
          <a:solidFill>
            <a:srgbClr val="F4F6F9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977639"/>
            <a:ext cx="91440" cy="2057400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160519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2F7D3A"/>
                </a:solidFill>
                <a:latin typeface="Consolas"/>
              </a:rPr>
              <a:t>Force · Policy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544567"/>
            <a:ext cx="50292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37424F"/>
                </a:solidFill>
                <a:latin typeface="Calibri"/>
              </a:rPr>
              <a:t>CIS/LTESA and support — a floor and a gate. A contract isn't a built asset; windows open and shut.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3977639"/>
            <a:ext cx="5468112" cy="2057400"/>
          </a:xfrm>
          <a:prstGeom prst="rect">
            <a:avLst/>
          </a:prstGeom>
          <a:solidFill>
            <a:srgbClr val="F4F6F9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3977639"/>
            <a:ext cx="91440" cy="2057400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4160519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B4571F"/>
                </a:solidFill>
                <a:latin typeface="Consolas"/>
              </a:rPr>
              <a:t>Factor · Capital &amp; the firm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544567"/>
            <a:ext cx="50292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37424F"/>
                </a:solidFill>
                <a:latin typeface="Calibri"/>
              </a:rPr>
              <a:t>A real constraint — you can't do everything at once. Worth naming, but held lightly today.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1908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So What? · Power Development Team Day 2 · the companion to “Reading the NEM”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2331720"/>
            <a:ext cx="548640" cy="4572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8A8BF0"/>
                </a:solidFill>
                <a:latin typeface="Consolas"/>
              </a:rPr>
              <a:t>IN YOUR FUNCTION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1460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What do we stop, start and continue?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66160"/>
            <a:ext cx="10424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C2CAD4"/>
                </a:solidFill>
                <a:latin typeface="Calibri"/>
              </a:rPr>
              <a:t>The questions on each function's slide are </a:t>
            </a:r>
            <a:r>
              <a:rPr sz="1800" b="1" i="0">
                <a:solidFill>
                  <a:srgbClr val="8A8BF0"/>
                </a:solidFill>
                <a:latin typeface="Calibri"/>
              </a:rPr>
              <a:t>thought-starters — your own ideas are better</a:t>
            </a:r>
            <a:r>
              <a:rPr sz="1800" b="0" i="0">
                <a:solidFill>
                  <a:srgbClr val="C2CAD4"/>
                </a:solidFill>
                <a:latin typeface="Calibri"/>
              </a:rPr>
              <a:t>. Use them to prompt your own three, not to box you in.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4A4BD6"/>
                </a:solidFill>
                <a:latin typeface="Consolas"/>
              </a:rPr>
              <a:t>FUNCTION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111820"/>
                </a:solidFill>
                <a:latin typeface="Calibri"/>
              </a:rPr>
              <a:t>Development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 i="1">
                <a:solidFill>
                  <a:srgbClr val="37424F"/>
                </a:solidFill>
                <a:latin typeface="Calibri"/>
              </a:rPr>
              <a:t>Is our portfolio prioritisation actually working — and are we clear, by category, on what to start, stop and hold?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9748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4A4BD6"/>
                </a:solidFill>
                <a:latin typeface="Consolas"/>
              </a:rPr>
              <a:t>THOUGHT-STARTERS — YOUR OWN IDEAS ARE BETTER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163824"/>
            <a:ext cx="128016" cy="128016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10896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0" i="0">
                <a:solidFill>
                  <a:srgbClr val="37424F"/>
                </a:solidFill>
                <a:latin typeface="Calibri"/>
              </a:rPr>
              <a:t>Is our portfolio prioritisation working — do we back the right projects, in the right order?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941064"/>
            <a:ext cx="128016" cy="128016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88620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0" i="0">
                <a:solidFill>
                  <a:srgbClr val="37424F"/>
                </a:solidFill>
                <a:latin typeface="Calibri"/>
              </a:rPr>
              <a:t>For each category of project, are we clear on what should be started, stopped and held?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718304"/>
            <a:ext cx="128016" cy="128016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66344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0" i="0">
                <a:solidFill>
                  <a:srgbClr val="37424F"/>
                </a:solidFill>
                <a:latin typeface="Calibri"/>
              </a:rPr>
              <a:t>How could we improve the way we budget across the portfolio?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1908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So What? · Power Development Team Day 2 · the companion to “Reading the NEM”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FUNCTION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111820"/>
                </a:solidFill>
                <a:latin typeface="Calibri"/>
              </a:rPr>
              <a:t>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 i="1">
                <a:solidFill>
                  <a:srgbClr val="37424F"/>
                </a:solidFill>
                <a:latin typeface="Calibri"/>
              </a:rPr>
              <a:t>Can we cleanly separate a project's own fundamentals from its market circumstances — and say so clearly?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9748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D7D74"/>
                </a:solidFill>
                <a:latin typeface="Consolas"/>
              </a:rPr>
              <a:t>THOUGHT-STARTERS — YOUR OWN IDEAS ARE BETTER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163824"/>
            <a:ext cx="128016" cy="128016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10896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0" i="0">
                <a:solidFill>
                  <a:srgbClr val="37424F"/>
                </a:solidFill>
                <a:latin typeface="Calibri"/>
              </a:rPr>
              <a:t>How can we better communicate a project's fundamentals versus its market circumstances?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941064"/>
            <a:ext cx="128016" cy="128016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88620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0" i="0">
                <a:solidFill>
                  <a:srgbClr val="37424F"/>
                </a:solidFill>
                <a:latin typeface="Calibri"/>
              </a:rPr>
              <a:t>Should we tier projects by their fundamentals — and benchmark them against our existing operating projects?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718304"/>
            <a:ext cx="128016" cy="128016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66344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0" i="0">
                <a:solidFill>
                  <a:srgbClr val="37424F"/>
                </a:solidFill>
                <a:latin typeface="Calibri"/>
              </a:rPr>
              <a:t>Where a project is good but the market isn't (or vice versa), do we make that explicit?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1908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So What? · Power Development Team Day 2 · the companion to “Reading the NEM”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F7D3A"/>
                </a:solidFill>
                <a:latin typeface="Consolas"/>
              </a:rPr>
              <a:t>FUNCTION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111820"/>
                </a:solidFill>
                <a:latin typeface="Calibri"/>
              </a:rPr>
              <a:t>Land &amp; Planning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 i="1">
                <a:solidFill>
                  <a:srgbClr val="37424F"/>
                </a:solidFill>
                <a:latin typeface="Calibri"/>
              </a:rPr>
              <a:t>Are our targets clear, and are we protecting optionality as the market moves?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9748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2F7D3A"/>
                </a:solidFill>
                <a:latin typeface="Consolas"/>
              </a:rPr>
              <a:t>THOUGHT-STARTERS — YOUR OWN IDEAS ARE BETTER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163824"/>
            <a:ext cx="128016" cy="128016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10896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0" i="0">
                <a:solidFill>
                  <a:srgbClr val="37424F"/>
                </a:solidFill>
                <a:latin typeface="Calibri"/>
              </a:rPr>
              <a:t>Are our prospecting targets clear — do we know what a good site looks like now?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941064"/>
            <a:ext cx="128016" cy="128016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88620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0" i="0">
                <a:solidFill>
                  <a:srgbClr val="37424F"/>
                </a:solidFill>
                <a:latin typeface="Calibri"/>
              </a:rPr>
              <a:t>Are we doing the right things to keep project options viable through market changes?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1908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So What? · Power Development Team Day 2 · the companion to “Reading the NEM”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4571F"/>
                </a:solidFill>
                <a:latin typeface="Consolas"/>
              </a:rPr>
              <a:t>FUNCTION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111820"/>
                </a:solidFill>
                <a:latin typeface="Calibri"/>
              </a:rPr>
              <a:t>Structured Bids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 i="1">
                <a:solidFill>
                  <a:srgbClr val="37424F"/>
                </a:solidFill>
                <a:latin typeface="Calibri"/>
              </a:rPr>
              <a:t>Can we do the routine parts faster, so we spend our effort on what wins?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9748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B4571F"/>
                </a:solidFill>
                <a:latin typeface="Consolas"/>
              </a:rPr>
              <a:t>THOUGHT-STARTERS — YOUR OWN IDEAS ARE BETTER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163824"/>
            <a:ext cx="128016" cy="128016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10896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0" i="0">
                <a:solidFill>
                  <a:srgbClr val="37424F"/>
                </a:solidFill>
                <a:latin typeface="Calibri"/>
              </a:rPr>
              <a:t>Can we boilerplate parts of our bids so we focus effort on the key, differentiating elements?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941064"/>
            <a:ext cx="128016" cy="128016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88620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0" i="0">
                <a:solidFill>
                  <a:srgbClr val="37424F"/>
                </a:solidFill>
                <a:latin typeface="Calibri"/>
              </a:rPr>
              <a:t>Is there a better way to communicate bids — and their status — across the organisation?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1908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So What? · Power Development Team Day 2 · the companion to “Reading the NEM”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FUNCTION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111820"/>
                </a:solidFill>
                <a:latin typeface="Calibri"/>
              </a:rPr>
              <a:t>Commercial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 i="1">
                <a:solidFill>
                  <a:srgbClr val="37424F"/>
                </a:solidFill>
                <a:latin typeface="Calibri"/>
              </a:rPr>
              <a:t>Are we clear on each project's commercial pathway, the basis of our decisions, and how we respond when the facts change?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9748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B21E46"/>
                </a:solidFill>
                <a:latin typeface="Consolas"/>
              </a:rPr>
              <a:t>THOUGHT-STARTERS — YOUR OWN IDEAS ARE BETTER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163824"/>
            <a:ext cx="128016" cy="128016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10896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0" i="0">
                <a:solidFill>
                  <a:srgbClr val="37424F"/>
                </a:solidFill>
                <a:latin typeface="Calibri"/>
              </a:rPr>
              <a:t>How do we think about the commercial pathway for each project?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941064"/>
            <a:ext cx="128016" cy="128016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88620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0" i="0">
                <a:solidFill>
                  <a:srgbClr val="37424F"/>
                </a:solidFill>
                <a:latin typeface="Calibri"/>
              </a:rPr>
              <a:t>How do we communicate it — and be clear on the basis of a decision?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718304"/>
            <a:ext cx="128016" cy="128016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66344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0" i="0">
                <a:solidFill>
                  <a:srgbClr val="37424F"/>
                </a:solidFill>
                <a:latin typeface="Calibri"/>
              </a:rPr>
              <a:t>When the information changes, do we respond? Are we clear on both the live options and the decisions taken?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1908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So What? · Power Development Team Day 2 · the companion to “Reading the NEM”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4A4BD6"/>
                </a:solidFill>
                <a:latin typeface="Consolas"/>
              </a:rPr>
              <a:t>FUNCTION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111820"/>
                </a:solidFill>
                <a:latin typeface="Calibri"/>
              </a:rPr>
              <a:t>Technical (Engineering)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 i="1">
                <a:solidFill>
                  <a:srgbClr val="37424F"/>
                </a:solidFill>
                <a:latin typeface="Calibri"/>
              </a:rPr>
              <a:t>Is the real constraint our time — and are we spending it on the right projects at the right moment?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9748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4A4BD6"/>
                </a:solidFill>
                <a:latin typeface="Consolas"/>
              </a:rPr>
              <a:t>THOUGHT-STARTERS — YOUR OWN IDEAS ARE BETTER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163824"/>
            <a:ext cx="128016" cy="128016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10896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0" i="0">
                <a:solidFill>
                  <a:srgbClr val="37424F"/>
                </a:solidFill>
                <a:latin typeface="Calibri"/>
              </a:rPr>
              <a:t>Is our core challenge resourcing?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941064"/>
            <a:ext cx="128016" cy="128016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88620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0" i="0">
                <a:solidFill>
                  <a:srgbClr val="37424F"/>
                </a:solidFill>
                <a:latin typeface="Calibri"/>
              </a:rPr>
              <a:t>Which projects need our input, and at what point in their life?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718304"/>
            <a:ext cx="128016" cy="128016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66344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0" i="0">
                <a:solidFill>
                  <a:srgbClr val="37424F"/>
                </a:solidFill>
                <a:latin typeface="Calibri"/>
              </a:rPr>
              <a:t>How can we be most efficient about where technical effort goes?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1908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So What? · Power Development Team Day 2 · the companion to “Reading the NEM”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4A4BD6"/>
                </a:solidFill>
                <a:latin typeface="Consolas"/>
              </a:rPr>
              <a:t>MENTAL MODELS TO HELP SPOT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111820"/>
                </a:solidFill>
                <a:latin typeface="Calibri"/>
              </a:rPr>
              <a:t>Find one that fits how you think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81328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1">
                <a:solidFill>
                  <a:srgbClr val="66717F"/>
                </a:solidFill>
                <a:latin typeface="Calibri"/>
              </a:rPr>
              <a:t>Borrowed from the business community — pick one and let it prompt your Stop / Start / Continue.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057400"/>
            <a:ext cx="5468112" cy="1261872"/>
          </a:xfrm>
          <a:prstGeom prst="rect">
            <a:avLst/>
          </a:prstGeom>
          <a:solidFill>
            <a:srgbClr val="F4F6F9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57400"/>
            <a:ext cx="82296" cy="1261872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185416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4A4BD6"/>
                </a:solidFill>
                <a:latin typeface="Consolas"/>
              </a:rPr>
              <a:t>JEFF BEZOS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423160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11820"/>
                </a:solidFill>
                <a:latin typeface="Calibri"/>
              </a:rPr>
              <a:t>Type 1 vs Type 2 decisions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752344"/>
            <a:ext cx="5074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37424F"/>
                </a:solidFill>
                <a:latin typeface="Calibri"/>
              </a:rPr>
              <a:t>Reversible (Type 2)? Decide fast and low. One-way door (Type 1)? That's what the room is for — slow down.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2057400"/>
            <a:ext cx="5468112" cy="1261872"/>
          </a:xfrm>
          <a:prstGeom prst="rect">
            <a:avLst/>
          </a:prstGeom>
          <a:solidFill>
            <a:srgbClr val="F4F6F9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2057400"/>
            <a:ext cx="82296" cy="1261872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2185416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4A4BD6"/>
                </a:solidFill>
                <a:latin typeface="Consolas"/>
              </a:rPr>
              <a:t>DONALD RUMSFELD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2" y="2423160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11820"/>
                </a:solidFill>
                <a:latin typeface="Calibri"/>
              </a:rPr>
              <a:t>Known &amp; unknown unknowns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2752344"/>
            <a:ext cx="5074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37424F"/>
                </a:solidFill>
                <a:latin typeface="Calibri"/>
              </a:rPr>
              <a:t>List your projects' known-unknowns — that's where critical-path pain hides. Go convert them to knowns now.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447288"/>
            <a:ext cx="5468112" cy="1261872"/>
          </a:xfrm>
          <a:prstGeom prst="rect">
            <a:avLst/>
          </a:prstGeom>
          <a:solidFill>
            <a:srgbClr val="F4F6F9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447288"/>
            <a:ext cx="82296" cy="1261872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575304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4A4BD6"/>
                </a:solidFill>
                <a:latin typeface="Consolas"/>
              </a:rPr>
              <a:t>CHARLIE MUNGER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3813048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11820"/>
                </a:solidFill>
                <a:latin typeface="Calibri"/>
              </a:rPr>
              <a:t>Inversion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142232"/>
            <a:ext cx="5074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37424F"/>
                </a:solidFill>
                <a:latin typeface="Calibri"/>
              </a:rPr>
              <a:t>Don't ask how to be the best. Ask what would guarantee we're not — then stop doing exactly that.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2200" y="3447288"/>
            <a:ext cx="5468112" cy="1261872"/>
          </a:xfrm>
          <a:prstGeom prst="rect">
            <a:avLst/>
          </a:prstGeom>
          <a:solidFill>
            <a:srgbClr val="F4F6F9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3447288"/>
            <a:ext cx="82296" cy="1261872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8232" y="3575304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4A4BD6"/>
                </a:solidFill>
                <a:latin typeface="Consolas"/>
              </a:rPr>
              <a:t>HOWARD MARKS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28232" y="3813048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11820"/>
                </a:solidFill>
                <a:latin typeface="Calibri"/>
              </a:rPr>
              <a:t>Second-order thinking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28232" y="4142232"/>
            <a:ext cx="5074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37424F"/>
                </a:solidFill>
                <a:latin typeface="Calibri"/>
              </a:rPr>
              <a:t>“And then what?” Everyone sees the first move; the edge is in the consequence of the consequence.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837176"/>
            <a:ext cx="5468112" cy="1261872"/>
          </a:xfrm>
          <a:prstGeom prst="rect">
            <a:avLst/>
          </a:prstGeom>
          <a:solidFill>
            <a:srgbClr val="F4F6F9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4837176"/>
            <a:ext cx="82296" cy="1261872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4672" y="496519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4A4BD6"/>
                </a:solidFill>
                <a:latin typeface="Consolas"/>
              </a:rPr>
              <a:t>MUSK / ARISTOTLE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2" y="5202936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11820"/>
                </a:solidFill>
                <a:latin typeface="Calibri"/>
              </a:rPr>
              <a:t>First-principles thinking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" y="5532120"/>
            <a:ext cx="5074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37424F"/>
                </a:solidFill>
                <a:latin typeface="Calibri"/>
              </a:rPr>
              <a:t>Strip the problem to what's physically and commercially true, then rebuild — not “how it's always been done.”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1908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So What? · Power Development Team Day 2 · the companion to “Reading the NEM”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4A4BD6"/>
                </a:solidFill>
                <a:latin typeface="Consolas"/>
              </a:rPr>
              <a:t>A CROSS-CUTTING STRAND ANY GROUP CAN PICK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111820"/>
                </a:solidFill>
                <a:latin typeface="Calibri"/>
              </a:rPr>
              <a:t>Capture, structure and clarity are near-free now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27632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0" i="0">
                <a:solidFill>
                  <a:srgbClr val="37424F"/>
                </a:solidFill>
                <a:latin typeface="Calibri"/>
              </a:rPr>
              <a:t>What used to be expensive — writing something up clearly, structuring a decision, keeping a durable record — AI now does in seconds. We don't want to be swamped by AI text; we want to use it to improve our record-keeping and the rationale behind our decisions.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697480"/>
            <a:ext cx="11091672" cy="685800"/>
          </a:xfrm>
          <a:prstGeom prst="rect">
            <a:avLst/>
          </a:prstGeom>
          <a:solidFill>
            <a:srgbClr val="E9E9FB"/>
          </a:solidFill>
          <a:ln w="9525">
            <a:solidFill>
              <a:srgbClr val="4A4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816352"/>
            <a:ext cx="106984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11820"/>
                </a:solidFill>
                <a:latin typeface="Calibri"/>
              </a:rPr>
              <a:t>So the question for your group:  </a:t>
            </a:r>
            <a:r>
              <a:rPr sz="1500" b="1" i="0">
                <a:solidFill>
                  <a:srgbClr val="4A4BD6"/>
                </a:solidFill>
                <a:latin typeface="Calibri"/>
              </a:rPr>
              <a:t>what does that mean for what we should be doing?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03320"/>
            <a:ext cx="110642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500" b="1">
                <a:solidFill>
                  <a:srgbClr val="4A4BD6"/>
                </a:solidFill>
                <a:latin typeface="Calibri"/>
              </a:rPr>
              <a:t>›  </a:t>
            </a:r>
            <a:r>
              <a:rPr sz="1500" b="1">
                <a:solidFill>
                  <a:srgbClr val="111820"/>
                </a:solidFill>
                <a:latin typeface="Calibri"/>
              </a:rPr>
              <a:t>Written-first</a:t>
            </a:r>
            <a:r>
              <a:rPr sz="1500" b="0">
                <a:solidFill>
                  <a:srgbClr val="37424F"/>
                </a:solidFill>
                <a:latin typeface="Calibri"/>
              </a:rPr>
              <a:t> — the crisp record used to cost real effort, so we defaulted to talking at people. Now it's cheap, and it's durable.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500" b="1">
                <a:solidFill>
                  <a:srgbClr val="4A4BD6"/>
                </a:solidFill>
                <a:latin typeface="Calibri"/>
              </a:rPr>
              <a:t>›  </a:t>
            </a:r>
            <a:r>
              <a:rPr sz="1500" b="1">
                <a:solidFill>
                  <a:srgbClr val="111820"/>
                </a:solidFill>
                <a:latin typeface="Calibri"/>
              </a:rPr>
              <a:t>A living “project passport” per project</a:t>
            </a:r>
            <a:r>
              <a:rPr sz="1500" b="0">
                <a:solidFill>
                  <a:srgbClr val="37424F"/>
                </a:solidFill>
                <a:latin typeface="Calibri"/>
              </a:rPr>
              <a:t> — the test: if the lead left tomorrow, could someone run it from the written record alone?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500" b="1">
                <a:solidFill>
                  <a:srgbClr val="4A4BD6"/>
                </a:solidFill>
                <a:latin typeface="Calibri"/>
              </a:rPr>
              <a:t>›  </a:t>
            </a:r>
            <a:r>
              <a:rPr sz="1500" b="1">
                <a:solidFill>
                  <a:srgbClr val="111820"/>
                </a:solidFill>
                <a:latin typeface="Calibri"/>
              </a:rPr>
              <a:t>Capture the why, not just the what</a:t>
            </a:r>
            <a:r>
              <a:rPr sz="1500" b="0">
                <a:solidFill>
                  <a:srgbClr val="37424F"/>
                </a:solidFill>
                <a:latin typeface="Calibri"/>
              </a:rPr>
              <a:t> — the decision and the reasoning, so future-us isn't reverse-engineering it.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500" b="1">
                <a:solidFill>
                  <a:srgbClr val="4A4BD6"/>
                </a:solidFill>
                <a:latin typeface="Calibri"/>
              </a:rPr>
              <a:t>›  </a:t>
            </a:r>
            <a:r>
              <a:rPr sz="1500" b="1">
                <a:solidFill>
                  <a:srgbClr val="111820"/>
                </a:solidFill>
                <a:latin typeface="Calibri"/>
              </a:rPr>
              <a:t>Effective comms = clear · captured · findable · reusable.</a:t>
            </a:r>
            <a:r>
              <a:rPr sz="1500" b="0">
                <a:solidFill>
                  <a:srgbClr val="37424F"/>
                </a:solidFill>
                <a:latin typeface="Calibri"/>
              </a:rPr>
              <a:t> If it isn't all four, it's theatre.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05332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1">
                <a:solidFill>
                  <a:srgbClr val="66717F"/>
                </a:solidFill>
                <a:latin typeface="Calibri"/>
              </a:rPr>
              <a:t>Meta: this workshop's own output is a clean written log — built live and AI-assisted, not a photo of a whiteboard.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1908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So What? · Power Development Team Day 2 · the companion to “Reading the NEM”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4A4BD6"/>
                </a:solidFill>
                <a:latin typeface="Consolas"/>
              </a:rPr>
              <a:t>AN EXAMPLE TO ADOPT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111820"/>
                </a:solidFill>
                <a:latin typeface="Calibri"/>
              </a:rPr>
              <a:t>The “project passport” — one place per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66717F"/>
                </a:solidFill>
                <a:latin typeface="Calibri"/>
              </a:rPr>
              <a:t>A short summary + current approach from each function, plus the decisions and their why. AI keeps it current from meeting notes — a live record, not a chore.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5468112" cy="969264"/>
          </a:xfrm>
          <a:prstGeom prst="rect">
            <a:avLst/>
          </a:prstGeom>
          <a:solidFill>
            <a:srgbClr val="F4F6F9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82296" cy="969264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2121408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4A4BD6"/>
                </a:solidFill>
                <a:latin typeface="Calibri"/>
              </a:rPr>
              <a:t>Development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414016"/>
            <a:ext cx="5074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37424F"/>
                </a:solidFill>
                <a:latin typeface="Calibri"/>
              </a:rPr>
              <a:t>Summary: what it is, where it's up to. Approach: tier, critical path, next gate, pace vs plan.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2011680"/>
            <a:ext cx="5468112" cy="969264"/>
          </a:xfrm>
          <a:prstGeom prst="rect">
            <a:avLst/>
          </a:prstGeom>
          <a:solidFill>
            <a:srgbClr val="F4F6F9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2200" y="2011680"/>
            <a:ext cx="82296" cy="969264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9944" y="2121408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D7D74"/>
                </a:solidFill>
                <a:latin typeface="Calibri"/>
              </a:rPr>
              <a:t>Analysis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9944" y="2414016"/>
            <a:ext cx="5074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37424F"/>
                </a:solidFill>
                <a:latin typeface="Calibri"/>
              </a:rPr>
              <a:t>Summary: the fundamentals. Approach: the market read, revenue basis, benchmarked vs operating assets.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090672"/>
            <a:ext cx="5468112" cy="969264"/>
          </a:xfrm>
          <a:prstGeom prst="rect">
            <a:avLst/>
          </a:prstGeom>
          <a:solidFill>
            <a:srgbClr val="F4F6F9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090672"/>
            <a:ext cx="82296" cy="969264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" y="320040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F7D3A"/>
                </a:solidFill>
                <a:latin typeface="Calibri"/>
              </a:rPr>
              <a:t>Land &amp; Planning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3493008"/>
            <a:ext cx="5074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37424F"/>
                </a:solidFill>
                <a:latin typeface="Calibri"/>
              </a:rPr>
              <a:t>Summary: site &amp; land status. Approach: planning, connection &amp; system-strength position, key risks.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3090672"/>
            <a:ext cx="5468112" cy="969264"/>
          </a:xfrm>
          <a:prstGeom prst="rect">
            <a:avLst/>
          </a:prstGeom>
          <a:solidFill>
            <a:srgbClr val="F4F6F9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72200" y="3090672"/>
            <a:ext cx="82296" cy="969264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9944" y="320040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B4571F"/>
                </a:solidFill>
                <a:latin typeface="Calibri"/>
              </a:rPr>
              <a:t>Structured Bids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9944" y="3493008"/>
            <a:ext cx="5074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37424F"/>
                </a:solidFill>
                <a:latin typeface="Calibri"/>
              </a:rPr>
              <a:t>Summary: scheme eligibility &amp; fit. Approach: bids submitted/planned, awards, next window.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169664"/>
            <a:ext cx="5468112" cy="969264"/>
          </a:xfrm>
          <a:prstGeom prst="rect">
            <a:avLst/>
          </a:prstGeom>
          <a:solidFill>
            <a:srgbClr val="F4F6F9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169664"/>
            <a:ext cx="82296" cy="969264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6384" y="427939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B21E46"/>
                </a:solidFill>
                <a:latin typeface="Calibri"/>
              </a:rPr>
              <a:t>Commercial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" y="4572000"/>
            <a:ext cx="5074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37424F"/>
                </a:solidFill>
                <a:latin typeface="Calibri"/>
              </a:rPr>
              <a:t>Summary: the commercial pathway. Approach: offtake/PPA position, basis of decisions, live options.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72200" y="4169664"/>
            <a:ext cx="5468112" cy="969264"/>
          </a:xfrm>
          <a:prstGeom prst="rect">
            <a:avLst/>
          </a:prstGeom>
          <a:solidFill>
            <a:srgbClr val="F4F6F9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4169664"/>
            <a:ext cx="82296" cy="969264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9944" y="427939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4A4BD6"/>
                </a:solidFill>
                <a:latin typeface="Calibri"/>
              </a:rPr>
              <a:t>Technical (Eng.)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9944" y="4572000"/>
            <a:ext cx="5074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37424F"/>
                </a:solidFill>
                <a:latin typeface="Calibri"/>
              </a:rPr>
              <a:t>Summary: technology &amp; design choices. Approach: technical risks, resourcing needs &amp; timing.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5248656"/>
            <a:ext cx="5468112" cy="969264"/>
          </a:xfrm>
          <a:prstGeom prst="rect">
            <a:avLst/>
          </a:prstGeom>
          <a:solidFill>
            <a:srgbClr val="F4F6F9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48640" y="5248656"/>
            <a:ext cx="82296" cy="969264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6384" y="5358384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4A4BD6"/>
                </a:solidFill>
                <a:latin typeface="Calibri"/>
              </a:rPr>
              <a:t>Decisions log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" y="5650992"/>
            <a:ext cx="5074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37424F"/>
                </a:solidFill>
                <a:latin typeface="Calibri"/>
              </a:rPr>
              <a:t>Decision · date · rationale (the why) · who. The context a newcomer can't get anywhere else.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72200" y="5248656"/>
            <a:ext cx="5468112" cy="969264"/>
          </a:xfrm>
          <a:prstGeom prst="rect">
            <a:avLst/>
          </a:prstGeom>
          <a:solidFill>
            <a:srgbClr val="F4F6F9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172200" y="5248656"/>
            <a:ext cx="82296" cy="969264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9944" y="5358384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4A4BD6"/>
                </a:solidFill>
                <a:latin typeface="Calibri"/>
              </a:rPr>
              <a:t>Open questions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9944" y="5650992"/>
            <a:ext cx="5074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37424F"/>
                </a:solidFill>
                <a:latin typeface="Calibri"/>
              </a:rPr>
              <a:t>The known-unknowns — what we know we don't know, and who's chasing each.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1908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So What? · Power Development Team Day 2 · the companion to “Reading the NEM”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4A4BD6"/>
                </a:solidFill>
                <a:latin typeface="Consolas"/>
              </a:rPr>
              <a:t>CAPTURE · TWO LEVELS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111820"/>
                </a:solidFill>
                <a:latin typeface="Calibri"/>
              </a:rPr>
              <a:t>Your own three → the group's voted best two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8132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1">
                <a:solidFill>
                  <a:srgbClr val="66717F"/>
                </a:solidFill>
                <a:latin typeface="Calibri"/>
              </a:rPr>
              <a:t>Guide each individual's output, but the priority is a clean team record. A discipline may run several groups — each fills its own.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4A4BD6"/>
                </a:solidFill>
                <a:latin typeface="Consolas"/>
              </a:rPr>
              <a:t>1 · INDIVIDUAL — YOUR THREE (ONE OF EACH)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377440"/>
            <a:ext cx="3566160" cy="1371600"/>
          </a:xfrm>
          <a:prstGeom prst="rect">
            <a:avLst/>
          </a:prstGeom>
          <a:solidFill>
            <a:srgbClr val="F4F6F9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377440"/>
            <a:ext cx="3566160" cy="64008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50545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STOP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77977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1">
                <a:solidFill>
                  <a:srgbClr val="66717F"/>
                </a:solidFill>
                <a:latin typeface="Calibri"/>
              </a:rPr>
              <a:t>one thing we should stop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8" y="3182112"/>
            <a:ext cx="3163824" cy="10972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06824" y="2377440"/>
            <a:ext cx="3566160" cy="1371600"/>
          </a:xfrm>
          <a:prstGeom prst="rect">
            <a:avLst/>
          </a:prstGeom>
          <a:solidFill>
            <a:srgbClr val="F4F6F9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06824" y="2377440"/>
            <a:ext cx="3566160" cy="64008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992" y="250545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F7D3A"/>
                </a:solidFill>
                <a:latin typeface="Consolas"/>
              </a:rPr>
              <a:t>START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7992" y="277977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1">
                <a:solidFill>
                  <a:srgbClr val="66717F"/>
                </a:solidFill>
                <a:latin typeface="Calibri"/>
              </a:rPr>
              <a:t>one new thing we should do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07992" y="3182112"/>
            <a:ext cx="3163824" cy="10972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65008" y="2377440"/>
            <a:ext cx="3566160" cy="1371600"/>
          </a:xfrm>
          <a:prstGeom prst="rect">
            <a:avLst/>
          </a:prstGeom>
          <a:solidFill>
            <a:srgbClr val="F4F6F9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65008" y="2377440"/>
            <a:ext cx="3566160" cy="64008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66176" y="250545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CONTINUE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6176" y="277977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1">
                <a:solidFill>
                  <a:srgbClr val="66717F"/>
                </a:solidFill>
                <a:latin typeface="Calibri"/>
              </a:rPr>
              <a:t>one working thing we protect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66176" y="3182112"/>
            <a:ext cx="3163824" cy="10972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416052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4A4BD6"/>
                </a:solidFill>
                <a:latin typeface="Consolas"/>
              </a:rPr>
              <a:t>2 · GROUP — VOTED BEST TWO IN EACH (WHAT YOU REPORT BACK)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4526280"/>
            <a:ext cx="3566160" cy="1371600"/>
          </a:xfrm>
          <a:prstGeom prst="rect">
            <a:avLst/>
          </a:prstGeom>
          <a:solidFill>
            <a:srgbClr val="F4F6F9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4526280"/>
            <a:ext cx="3566160" cy="64008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46542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STOP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492861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1">
                <a:solidFill>
                  <a:srgbClr val="66717F"/>
                </a:solidFill>
                <a:latin typeface="Calibri"/>
              </a:rPr>
              <a:t>one thing we should stop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49808" y="5330952"/>
            <a:ext cx="3163824" cy="10972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49808" y="5586984"/>
            <a:ext cx="3163824" cy="10972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06824" y="4526280"/>
            <a:ext cx="3566160" cy="1371600"/>
          </a:xfrm>
          <a:prstGeom prst="rect">
            <a:avLst/>
          </a:prstGeom>
          <a:solidFill>
            <a:srgbClr val="F4F6F9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06824" y="4526280"/>
            <a:ext cx="3566160" cy="64008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07992" y="46542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F7D3A"/>
                </a:solidFill>
                <a:latin typeface="Consolas"/>
              </a:rPr>
              <a:t>START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07992" y="492861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1">
                <a:solidFill>
                  <a:srgbClr val="66717F"/>
                </a:solidFill>
                <a:latin typeface="Calibri"/>
              </a:rPr>
              <a:t>one new thing we should do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07992" y="5330952"/>
            <a:ext cx="3163824" cy="10972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07992" y="5586984"/>
            <a:ext cx="3163824" cy="10972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65008" y="4526280"/>
            <a:ext cx="3566160" cy="1371600"/>
          </a:xfrm>
          <a:prstGeom prst="rect">
            <a:avLst/>
          </a:prstGeom>
          <a:solidFill>
            <a:srgbClr val="F4F6F9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065008" y="4526280"/>
            <a:ext cx="3566160" cy="64008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66176" y="46542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CONTINUE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66176" y="492861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1">
                <a:solidFill>
                  <a:srgbClr val="66717F"/>
                </a:solidFill>
                <a:latin typeface="Calibri"/>
              </a:rPr>
              <a:t>one working thing we protect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66176" y="5330952"/>
            <a:ext cx="3163824" cy="10972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266176" y="5586984"/>
            <a:ext cx="3163824" cy="10972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" y="641908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So What? · Power Development Team Day 2 · the companion to “Reading the NEM”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4A4BD6"/>
                </a:solidFill>
                <a:latin typeface="Consolas"/>
              </a:rPr>
              <a:t>MAKE ONE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111820"/>
                </a:solidFill>
                <a:latin typeface="Calibri"/>
              </a:rPr>
              <a:t>Take your best Start and turn it into a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66717F"/>
                </a:solidFill>
                <a:latin typeface="Calibri"/>
              </a:rPr>
              <a:t>One canvas per group — pick the single Start with the most value and fill it in before you leave the room.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965960"/>
            <a:ext cx="11091672" cy="868680"/>
          </a:xfrm>
          <a:prstGeom prst="rect">
            <a:avLst/>
          </a:prstGeom>
          <a:solidFill>
            <a:srgbClr val="F4F6F9"/>
          </a:solidFill>
          <a:ln w="9525">
            <a:solidFill>
              <a:srgbClr val="4A4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965960"/>
            <a:ext cx="11091672" cy="82296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121408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4A4BD6"/>
                </a:solidFill>
                <a:latin typeface="Consolas"/>
              </a:rPr>
              <a:t>THE ONE START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414016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1">
                <a:solidFill>
                  <a:srgbClr val="66717F"/>
                </a:solidFill>
                <a:latin typeface="Calibri"/>
              </a:rPr>
              <a:t>the change this group commits to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063240"/>
            <a:ext cx="3291840" cy="1417320"/>
          </a:xfrm>
          <a:prstGeom prst="rect">
            <a:avLst/>
          </a:prstGeom>
          <a:solidFill>
            <a:srgbClr val="F4F6F9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063240"/>
            <a:ext cx="3291840" cy="73152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3246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11820"/>
                </a:solidFill>
                <a:latin typeface="Calibri"/>
              </a:rPr>
              <a:t>Owner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3666744"/>
            <a:ext cx="2926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6717F"/>
                </a:solidFill>
                <a:latin typeface="Calibri"/>
              </a:rPr>
              <a:t>the single name accountable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80560" y="3063240"/>
            <a:ext cx="3291840" cy="1417320"/>
          </a:xfrm>
          <a:prstGeom prst="rect">
            <a:avLst/>
          </a:prstGeom>
          <a:solidFill>
            <a:srgbClr val="F4F6F9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80560" y="3063240"/>
            <a:ext cx="3291840" cy="73152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81728" y="3246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11820"/>
                </a:solidFill>
                <a:latin typeface="Calibri"/>
              </a:rPr>
              <a:t>First step — 30 days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81728" y="3666744"/>
            <a:ext cx="2926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6717F"/>
                </a:solidFill>
                <a:latin typeface="Calibri"/>
              </a:rPr>
              <a:t>the concrete first move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12480" y="3063240"/>
            <a:ext cx="3291840" cy="1417320"/>
          </a:xfrm>
          <a:prstGeom prst="rect">
            <a:avLst/>
          </a:prstGeom>
          <a:solidFill>
            <a:srgbClr val="F4F6F9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0" y="3063240"/>
            <a:ext cx="3291840" cy="73152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13648" y="3246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11820"/>
                </a:solidFill>
                <a:latin typeface="Calibri"/>
              </a:rPr>
              <a:t>How we'll know it worked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13648" y="3666744"/>
            <a:ext cx="2926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6717F"/>
                </a:solidFill>
                <a:latin typeface="Calibri"/>
              </a:rPr>
              <a:t>the signal / measure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663440"/>
            <a:ext cx="3291840" cy="1417320"/>
          </a:xfrm>
          <a:prstGeom prst="rect">
            <a:avLst/>
          </a:prstGeom>
          <a:solidFill>
            <a:srgbClr val="F4F6F9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663440"/>
            <a:ext cx="3291840" cy="73152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48463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11820"/>
                </a:solidFill>
                <a:latin typeface="Calibri"/>
              </a:rPr>
              <a:t>What it displaces (if any)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5266944"/>
            <a:ext cx="2926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6717F"/>
                </a:solidFill>
                <a:latin typeface="Calibri"/>
              </a:rPr>
              <a:t>only if needed — attention is scarce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80560" y="4663440"/>
            <a:ext cx="3291840" cy="1417320"/>
          </a:xfrm>
          <a:prstGeom prst="rect">
            <a:avLst/>
          </a:prstGeom>
          <a:solidFill>
            <a:srgbClr val="F4F6F9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80560" y="4663440"/>
            <a:ext cx="3291840" cy="73152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81728" y="48463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11820"/>
                </a:solidFill>
                <a:latin typeface="Calibri"/>
              </a:rPr>
              <a:t>A model that helped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81728" y="5266944"/>
            <a:ext cx="2926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6717F"/>
                </a:solidFill>
                <a:latin typeface="Calibri"/>
              </a:rPr>
              <a:t>Type 1/2, inversion, second-order…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6355080"/>
            <a:ext cx="11091672" cy="9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641908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So What? · Power Development Team Day 2 · the companion to “Reading the NEM”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Leave with a decision, not a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C2CAD4"/>
                </a:solidFill>
                <a:latin typeface="Calibri"/>
              </a:rPr>
              <a:t>Each group: your voted Stop / Start / Continue reported to the room — and one Start made real, with an owner and a 30-day first step. Written down, on screen, before we leave.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0060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8A8BF0"/>
                </a:solidFill>
                <a:latin typeface="Calibri"/>
              </a:rPr>
              <a:t>Then the 90-day scoreboard: what actually happened — and are we closer to the best development team in the country?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235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8A8BF0"/>
                </a:solidFill>
                <a:latin typeface="Consolas"/>
              </a:rPr>
              <a:t>The live guide:  travis-coder712.github.io/studio/so-what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