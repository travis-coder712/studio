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98448"/>
            <a:ext cx="502920" cy="4572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POWER DEVELOPMENT · TEAM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111820"/>
                </a:solidFill>
                <a:latin typeface="Calibri"/>
              </a:rPr>
              <a:t>So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7424F"/>
                </a:solidFill>
                <a:latin typeface="Calibri"/>
              </a:rPr>
              <a:t>Now that we know how the market works — what do we do differently?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7424F"/>
                </a:solidFill>
                <a:latin typeface="Calibri"/>
              </a:rPr>
              <a:t>You sit in your </a:t>
            </a:r>
            <a:r>
              <a:rPr sz="1600" b="1" i="0">
                <a:solidFill>
                  <a:srgbClr val="4A4BD6"/>
                </a:solidFill>
                <a:latin typeface="Calibri"/>
              </a:rPr>
              <a:t>function</a:t>
            </a:r>
            <a:r>
              <a:rPr sz="1600" b="0" i="0">
                <a:solidFill>
                  <a:srgbClr val="37424F"/>
                </a:solidFill>
                <a:latin typeface="Calibri"/>
              </a:rPr>
              <a:t>. You leave with </a:t>
            </a:r>
            <a:r>
              <a:rPr sz="1600" b="1" i="0">
                <a:solidFill>
                  <a:srgbClr val="4A4BD6"/>
                </a:solidFill>
                <a:latin typeface="Calibri"/>
              </a:rPr>
              <a:t>owned starts and stops</a:t>
            </a:r>
            <a:r>
              <a:rPr sz="1600" b="0" i="0">
                <a:solidFill>
                  <a:srgbClr val="37424F"/>
                </a:solidFill>
                <a:latin typeface="Calibri"/>
              </a:rPr>
              <a:t> — not a wall of sticky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HOW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11820"/>
                </a:solidFill>
                <a:latin typeface="Calibri"/>
              </a:rPr>
              <a:t>A fast 90 minutes (60 if we must)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556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013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A4BD6"/>
                </a:solidFill>
                <a:latin typeface="Consolas"/>
              </a:rPr>
              <a:t>0:00–0:10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78308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Frame — Day-1 recap → the Balance → the rule → the challenge.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80136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66717F"/>
                </a:solidFill>
                <a:latin typeface="Consolas"/>
              </a:rPr>
              <a:t>PRESENTER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111556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048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A4BD6"/>
                </a:solidFill>
                <a:latin typeface="Consolas"/>
              </a:rPr>
              <a:t>0:10–0:30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86584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Diverge, in your function — what should we Stop or change, and Start?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40487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66717F"/>
                </a:solidFill>
                <a:latin typeface="Consolas"/>
              </a:rPr>
              <a:t>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98648"/>
            <a:ext cx="111556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0837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A4BD6"/>
                </a:solidFill>
                <a:latin typeface="Consolas"/>
              </a:rPr>
              <a:t>0:30–0:45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90088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Converge — post, cluster, dot-vote the high-impact / in-our-control.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0083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66717F"/>
                </a:solidFill>
                <a:latin typeface="Consolas"/>
              </a:rPr>
              <a:t>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02152"/>
            <a:ext cx="111556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A4BD6"/>
                </a:solidFill>
                <a:latin typeface="Consolas"/>
              </a:rPr>
              <a:t>0:45–1:10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593592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Deep-dive ×1–2 — pre-mortem + a “how we'd actually do it” canvas.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6118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66717F"/>
                </a:solidFill>
                <a:latin typeface="Consolas"/>
              </a:rPr>
              <a:t>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05656"/>
            <a:ext cx="111556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15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A4BD6"/>
                </a:solidFill>
                <a:latin typeface="Consolas"/>
              </a:rPr>
              <a:t>1:10–1:25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9709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7424F"/>
                </a:solidFill>
                <a:latin typeface="Calibri"/>
              </a:rPr>
              <a:t>Commit — each function owns one change + a 30-day first step.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21538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66717F"/>
                </a:solidFill>
                <a:latin typeface="Consolas"/>
              </a:rPr>
              <a:t>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92040"/>
            <a:ext cx="11155680" cy="1188720"/>
          </a:xfrm>
          <a:prstGeom prst="rect">
            <a:avLst/>
          </a:prstGeom>
          <a:solidFill>
            <a:srgbClr val="E9E9FB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1091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THE RULE FOR EVERY IDEA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85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11820"/>
                </a:solidFill>
                <a:latin typeface="Calibri"/>
              </a:rPr>
              <a:t>A concrete Start or a Stop — and lead with stops. </a:t>
            </a:r>
            <a:r>
              <a:rPr sz="1400" b="0" i="0">
                <a:solidFill>
                  <a:srgbClr val="37424F"/>
                </a:solidFill>
                <a:latin typeface="Calibri"/>
              </a:rPr>
              <a:t>It can come from the day's learning or your own read of what matters; you don't have to tie it to a particular insight. Where you can, name what a new start displaces — attention is the scarce resource.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199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6717F"/>
                </a:solidFill>
                <a:latin typeface="Calibri"/>
              </a:rPr>
              <a:t>Seating: functional teams — Development · Analysis · Land &amp; Planning · Structured Bids · Commercial · Technical (Engineering).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A8BF0"/>
                </a:solidFill>
                <a:latin typeface="Consolas"/>
              </a:rPr>
              <a:t>THE CHALLENGE UNDERNEATH THE WHOLE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If we're to be the best development team in the country — what should we start and stop?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AD4"/>
                </a:solidFill>
                <a:latin typeface="Calibri"/>
              </a:rPr>
              <a:t>And its sharper, inverted twin: </a:t>
            </a:r>
            <a:r>
              <a:rPr sz="1800" b="1" i="1">
                <a:solidFill>
                  <a:srgbClr val="8A8BF0"/>
                </a:solidFill>
                <a:latin typeface="Calibri"/>
              </a:rPr>
              <a:t>what would guarantee we're not the best — and are we doing any of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THE FRAME FOR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The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11820"/>
                </a:solidFill>
                <a:latin typeface="Calibri"/>
              </a:rPr>
              <a:t>For every project we're balancing the asset's fundamentals against a few forces — and the one we spent yesterday reading is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A4BD6"/>
                </a:solidFill>
                <a:latin typeface="Calibri"/>
              </a:rPr>
              <a:t>›  </a:t>
            </a:r>
            <a:r>
              <a:rPr sz="1700" b="1">
                <a:solidFill>
                  <a:srgbClr val="111820"/>
                </a:solidFill>
                <a:latin typeface="Calibri"/>
              </a:rPr>
              <a:t>Day 1 was our deep look at that force</a:t>
            </a:r>
            <a:r>
              <a:rPr sz="1700" b="0">
                <a:solidFill>
                  <a:srgbClr val="37424F"/>
                </a:solidFill>
                <a:latin typeface="Calibri"/>
              </a:rPr>
              <a:t> — what the market rewards, and when.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A4BD6"/>
                </a:solidFill>
                <a:latin typeface="Calibri"/>
              </a:rPr>
              <a:t>›  </a:t>
            </a:r>
            <a:r>
              <a:rPr sz="1700" b="1">
                <a:solidFill>
                  <a:srgbClr val="111820"/>
                </a:solidFill>
                <a:latin typeface="Calibri"/>
              </a:rPr>
              <a:t>Today's job:</a:t>
            </a:r>
            <a:r>
              <a:rPr sz="1700" b="0">
                <a:solidFill>
                  <a:srgbClr val="37424F"/>
                </a:solidFill>
                <a:latin typeface="Calibri"/>
              </a:rPr>
              <a:t> let that read re-rank, re-time and re-screen what we develop and how.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A4BD6"/>
                </a:solidFill>
                <a:latin typeface="Calibri"/>
              </a:rPr>
              <a:t>›  </a:t>
            </a:r>
            <a:r>
              <a:rPr sz="1700" b="1">
                <a:solidFill>
                  <a:srgbClr val="111820"/>
                </a:solidFill>
                <a:latin typeface="Calibri"/>
              </a:rPr>
              <a:t>Policy</a:t>
            </a:r>
            <a:r>
              <a:rPr sz="1700" b="0">
                <a:solidFill>
                  <a:srgbClr val="37424F"/>
                </a:solidFill>
                <a:latin typeface="Calibri"/>
              </a:rPr>
              <a:t> is a real force too; </a:t>
            </a:r>
            <a:r>
              <a:rPr sz="1700" b="1">
                <a:solidFill>
                  <a:srgbClr val="111820"/>
                </a:solidFill>
                <a:latin typeface="Calibri"/>
              </a:rPr>
              <a:t>capital</a:t>
            </a:r>
            <a:r>
              <a:rPr sz="1700" b="0">
                <a:solidFill>
                  <a:srgbClr val="37424F"/>
                </a:solidFill>
                <a:latin typeface="Calibri"/>
              </a:rPr>
              <a:t> is a background factor — yes, we can't do everything, but that's not what today is about.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4A4BD6"/>
                </a:solidFill>
                <a:latin typeface="Calibri"/>
              </a:rPr>
              <a:t>›  </a:t>
            </a:r>
            <a:r>
              <a:rPr sz="1700" b="0">
                <a:solidFill>
                  <a:srgbClr val="37424F"/>
                </a:solidFill>
                <a:latin typeface="Calibri"/>
              </a:rPr>
              <a:t>The question: </a:t>
            </a:r>
            <a:r>
              <a:rPr sz="1700" b="1">
                <a:solidFill>
                  <a:srgbClr val="111820"/>
                </a:solidFill>
                <a:latin typeface="Calibri"/>
              </a:rPr>
              <a:t>what changes in how we work</a:t>
            </a:r>
            <a:r>
              <a:rPr sz="1700" b="0">
                <a:solidFill>
                  <a:srgbClr val="37424F"/>
                </a:solidFill>
                <a:latin typeface="Calibri"/>
              </a:rPr>
              <a:t>, now that we've read the market?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THE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One asset · a few forces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68112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" cy="20574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4A4BD6"/>
                </a:solidFill>
                <a:latin typeface="Consolas"/>
              </a:rPr>
              <a:t>The 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7424F"/>
                </a:solidFill>
                <a:latin typeface="Calibri"/>
              </a:rPr>
              <a:t>Fundamentals, maturity, critical path, risk, pace — and how it ranks vs our other projects.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468112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91440" cy="20574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D7D74"/>
                </a:solidFill>
                <a:latin typeface="Consolas"/>
              </a:rPr>
              <a:t>Force · Market  ★ yesterday's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5856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7424F"/>
                </a:solidFill>
                <a:latin typeface="Calibri"/>
              </a:rPr>
              <a:t>The cycle, cannibalisation, firming, demand, the forward curve — the force we spent Day 1 learning to read.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468112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91440" cy="20574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F7D3A"/>
                </a:solidFill>
                <a:latin typeface="Consolas"/>
              </a:rPr>
              <a:t>Force ·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7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7424F"/>
                </a:solidFill>
                <a:latin typeface="Calibri"/>
              </a:rPr>
              <a:t>CIS/LTESA and support — a floor and a gate. A contract isn't a built asset; windows open and shut.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5468112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77639"/>
            <a:ext cx="91440" cy="20574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6051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B4571F"/>
                </a:solidFill>
                <a:latin typeface="Consolas"/>
              </a:rPr>
              <a:t>Factor · Capital &amp; the 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44567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7424F"/>
                </a:solidFill>
                <a:latin typeface="Calibri"/>
              </a:rPr>
              <a:t>A real constraint — you can't do everything at once. Worth naming, but held lightly today.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THE HORIZON CAVEAT — READ THIS BEFORE YOU “REACT” TO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11820"/>
                </a:solidFill>
                <a:latin typeface="Calibri"/>
              </a:rPr>
              <a:t>Development cycles are longer than market and policy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7424F"/>
                </a:solidFill>
                <a:latin typeface="Calibri"/>
              </a:rPr>
              <a:t>A project takes years; the market and the support settings will turn </a:t>
            </a:r>
            <a:r>
              <a:rPr sz="1900" b="1" i="0">
                <a:solidFill>
                  <a:srgbClr val="111820"/>
                </a:solidFill>
                <a:latin typeface="Calibri"/>
              </a:rPr>
              <a:t>several times</a:t>
            </a:r>
            <a:r>
              <a:rPr sz="1900" b="0" i="0">
                <a:solidFill>
                  <a:srgbClr val="37424F"/>
                </a:solidFill>
                <a:latin typeface="Calibri"/>
              </a:rPr>
              <a:t> before it reaches COD. So read today's market — but </a:t>
            </a:r>
            <a:r>
              <a:rPr sz="1900" b="1" i="0">
                <a:solidFill>
                  <a:srgbClr val="0D7D74"/>
                </a:solidFill>
                <a:latin typeface="Calibri"/>
              </a:rPr>
              <a:t>develop to a longer-term view</a:t>
            </a:r>
            <a:r>
              <a:rPr sz="1900" b="0" i="0">
                <a:solidFill>
                  <a:srgbClr val="37424F"/>
                </a:solidFill>
                <a:latin typeface="Calibri"/>
              </a:rPr>
              <a:t> of where market and company need are heading. Informed by the current setting, influenced by it, but </a:t>
            </a:r>
            <a:r>
              <a:rPr sz="1900" b="1" i="0">
                <a:solidFill>
                  <a:srgbClr val="111820"/>
                </a:solidFill>
                <a:latin typeface="Calibri"/>
              </a:rPr>
              <a:t>not captive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66717F"/>
                </a:solidFill>
                <a:latin typeface="Calibri"/>
              </a:rPr>
              <a:t>The “so what” is a sharper read — not a lurch to chase this year's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4572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A8BF0"/>
                </a:solidFill>
                <a:latin typeface="Consolas"/>
              </a:rPr>
              <a:t>IN YOUR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do we start and stop?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AD4"/>
                </a:solidFill>
                <a:latin typeface="Calibri"/>
              </a:rPr>
              <a:t>Wrestle with your function's questions. Add your own. Land on concrete starts and stops — and lead with the stops.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Is our portfolio prioritisation actually working — and are we clear, by category, on what to start, stop and hold?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Is our portfolio prioritisation working — do we back the right projects, in the right order?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For each category of project, are we clear on what should be started, stopped and held?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1830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How could we improve the way we budget across the portfolio?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D74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Can we cleanly separate a project's own fundamentals from its market circumstances — and say so clearly?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D7D74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How can we better communicate a project's fundamentals versus its market circumstances?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Should we tier projects by their fundamentals — and benchmark them against our existing operating projects?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18304"/>
            <a:ext cx="128016" cy="128016"/>
          </a:xfrm>
          <a:prstGeom prst="rect">
            <a:avLst/>
          </a:prstGeom>
          <a:solidFill>
            <a:srgbClr val="0D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Where a project is good but the market isn't (or vice versa), do we make that explicit?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D3A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Land &amp;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Are our targets clear, and are we protecting optionality as the market moves?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D3A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Are our prospecting targets clear — do we know what a good site looks like now?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2F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Are we doing the right things to keep project options viable through market changes?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71F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Structured Bids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Can we do the routine parts faster, so we spend our effort on what wins?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4571F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Can we boilerplate parts of our bids so we focus effort on the key, differentiating elements?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B45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Is there a better way to communicate bids — and their status — across the organisation?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21E46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Commercial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Are we clear on each project's commercial pathway, the basis of our decisions, and how we respond when the facts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21E46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How do we think about the commercial pathway for each project?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How do we communicate it — and be clear on the basis of a decision?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18304"/>
            <a:ext cx="128016" cy="128016"/>
          </a:xfrm>
          <a:prstGeom prst="rect">
            <a:avLst/>
          </a:prstGeom>
          <a:solidFill>
            <a:srgbClr val="B21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When the information changes, do we respond? Are we clear on both the live options and the decisions taken?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Technical (Engineering)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37424F"/>
                </a:solidFill>
                <a:latin typeface="Calibri"/>
              </a:rPr>
              <a:t>Is the real constraint our time — and are we spending it on the right projects at the right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QUESTIONS FOR YOUR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6382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Is our core challenge resourcing?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4106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Which projects need our input, and at what point in their life?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18304"/>
            <a:ext cx="128016" cy="128016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37424F"/>
                </a:solidFill>
                <a:latin typeface="Calibri"/>
              </a:rPr>
              <a:t>How can we be most efficient about where technical effort goes?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BREAKTHROUGH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Break out of “add more, defend everything”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Stop-first / subtraction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We reflexively add and miss subtractive fixes. Run it stop-heavy.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Inversion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Don't ask how to be the best — ask what would guarantee we're not, then stop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62072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Pre-mortem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“It's 2028 and this failed — why?” Surfaces the risk optimism hides.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862072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900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Competitor / acquirer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19272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If a sharp buyer looked at our portfolio — what would they cut, what would they buy?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32504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The 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9704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For every start, name what it displaces. No trade = a wish, not a priority.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032504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Type 1 vs Type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9704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Reversible? Just try it. Irreversible? That's what the room is for.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02936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30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Knowns &amp; unknowns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60136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Known-unknowns are where critical-path pain hides — investigate them now.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202936"/>
            <a:ext cx="546811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330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Work backwards from the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60136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7424F"/>
                </a:solidFill>
                <a:latin typeface="Calibri"/>
              </a:rPr>
              <a:t>Start from what the market rewards — then ask if the project fits.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WAYS OF WORKING · A FEATURED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We share knowledge by talking at people — the record is 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7424F"/>
                </a:solidFill>
                <a:latin typeface="Calibri"/>
              </a:rPr>
              <a:t>Big meetings are low-bandwidth and leave almost no trace. And AI just made good documentation nearly free — so thin records are now a choice, not a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 b="1">
                <a:solidFill>
                  <a:srgbClr val="4A4BD6"/>
                </a:solidFill>
                <a:latin typeface="Calibri"/>
              </a:rPr>
              <a:t>›  </a:t>
            </a:r>
            <a:r>
              <a:rPr sz="1650" b="1">
                <a:solidFill>
                  <a:srgbClr val="111820"/>
                </a:solidFill>
                <a:latin typeface="Calibri"/>
              </a:rPr>
              <a:t>Written-first, async by default</a:t>
            </a:r>
            <a:r>
              <a:rPr sz="1650" b="0">
                <a:solidFill>
                  <a:srgbClr val="37424F"/>
                </a:solidFill>
                <a:latin typeface="Calibri"/>
              </a:rPr>
              <a:t> — a one-page brief and a running decision log beat a 40-person call.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 b="1">
                <a:solidFill>
                  <a:srgbClr val="4A4BD6"/>
                </a:solidFill>
                <a:latin typeface="Calibri"/>
              </a:rPr>
              <a:t>›  </a:t>
            </a:r>
            <a:r>
              <a:rPr sz="1650" b="1">
                <a:solidFill>
                  <a:srgbClr val="111820"/>
                </a:solidFill>
                <a:latin typeface="Calibri"/>
              </a:rPr>
              <a:t>A living “project passport” per project</a:t>
            </a:r>
            <a:r>
              <a:rPr sz="1650" b="0">
                <a:solidFill>
                  <a:srgbClr val="37424F"/>
                </a:solidFill>
                <a:latin typeface="Calibri"/>
              </a:rPr>
              <a:t> — the test: if the lead left tomorrow, could someone pick it up from the written record alone?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 b="1">
                <a:solidFill>
                  <a:srgbClr val="4A4BD6"/>
                </a:solidFill>
                <a:latin typeface="Calibri"/>
              </a:rPr>
              <a:t>›  </a:t>
            </a:r>
            <a:r>
              <a:rPr sz="1650" b="1">
                <a:solidFill>
                  <a:srgbClr val="111820"/>
                </a:solidFill>
                <a:latin typeface="Calibri"/>
              </a:rPr>
              <a:t>AI removes the excuse</a:t>
            </a:r>
            <a:r>
              <a:rPr sz="1650" b="0">
                <a:solidFill>
                  <a:srgbClr val="37424F"/>
                </a:solidFill>
                <a:latin typeface="Calibri"/>
              </a:rPr>
              <a:t> — capture, structure and clarity are near-free now.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50" b="1">
                <a:solidFill>
                  <a:srgbClr val="4A4BD6"/>
                </a:solidFill>
                <a:latin typeface="Calibri"/>
              </a:rPr>
              <a:t>›  </a:t>
            </a:r>
            <a:r>
              <a:rPr sz="1650" b="1">
                <a:solidFill>
                  <a:srgbClr val="111820"/>
                </a:solidFill>
                <a:latin typeface="Calibri"/>
              </a:rPr>
              <a:t>Effective communication = clear · captured · findable · reusable.</a:t>
            </a:r>
            <a:r>
              <a:rPr sz="1650" b="0">
                <a:solidFill>
                  <a:srgbClr val="37424F"/>
                </a:solidFill>
                <a:latin typeface="Calibri"/>
              </a:rPr>
              <a:t> If it isn't all four, it's theatre.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Meta: this workshop's own output is a clean written decision log — not a photo of a whiteboard.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Take one change and make it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What exactly changes?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4144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the specific new 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78308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0391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Who owns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44144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a name, not a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78308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78308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0391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First step (30 days)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44144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the concrete next move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507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Signal it worked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5312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how we'll know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79476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9476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40507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What it displaces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45312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the trade — attention is scarce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794760"/>
            <a:ext cx="3291840" cy="178308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3794760"/>
            <a:ext cx="3291840" cy="9144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0507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11820"/>
                </a:solidFill>
                <a:latin typeface="Calibri"/>
              </a:rPr>
              <a:t>Pre-mortem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445312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6717F"/>
                </a:solidFill>
                <a:latin typeface="Calibri"/>
              </a:rPr>
              <a:t>it's 2028 and it failed — why?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BD6"/>
                </a:solidFill>
                <a:latin typeface="Consolas"/>
              </a:rPr>
              <a:t>CAPTURE &amp;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11820"/>
                </a:solidFill>
                <a:latin typeface="Calibri"/>
              </a:rPr>
              <a:t>One row per change — each function owns one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167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452372"/>
                <a:gridCol w="1452372"/>
                <a:gridCol w="1452372"/>
                <a:gridCol w="1452372"/>
                <a:gridCol w="1452372"/>
                <a:gridCol w="14523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Change (Start / Stop)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 (optional)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displaces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First step (30 days)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Signal it worked</a:t>
                      </a:r>
                    </a:p>
                  </a:txBody>
                  <a:tcPr marL="73152" marT="27432" marB="27432" anchor="ctr">
                    <a:solidFill>
                      <a:srgbClr val="4A4BD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Start a written “project passport” per active project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Knowledge is thin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Cut one recurring all-hands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[name]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Template + 2 pilots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11820"/>
                          </a:solidFill>
                          <a:latin typeface="Calibri"/>
                        </a:rPr>
                        <a:t>A stranger can brief it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6717F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73152"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4A4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43484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4BD6"/>
                </a:solidFill>
                <a:latin typeface="Consolas"/>
              </a:rPr>
              <a:t>THE 90-DAY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736592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7424F"/>
                </a:solidFill>
                <a:latin typeface="Calibri"/>
              </a:rPr>
              <a:t>Put a review date on it now. In 90 days: which commitments happened, what changed — and, against the standard, are we closer to the best development team in the country? </a:t>
            </a:r>
            <a:r>
              <a:rPr sz="1500" b="1" i="0">
                <a:solidFill>
                  <a:srgbClr val="111820"/>
                </a:solidFill>
                <a:latin typeface="Calibri"/>
              </a:rPr>
              <a:t>A workshop with no review is a workshop that didn't happen.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717F"/>
                </a:solidFill>
                <a:latin typeface="Consolas"/>
              </a:rPr>
              <a:t>So What? · Power Development Team Day 2 · the companion to “Reading the NEM”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A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Leave with a decision, not a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2CAD4"/>
                </a:solidFill>
                <a:latin typeface="Calibri"/>
              </a:rPr>
              <a:t>Each function: one change — a Start or a Stop — with an owner and a 30-day first step. Written down, on screen, before we leave the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8A8BF0"/>
                </a:solidFill>
                <a:latin typeface="Consolas"/>
              </a:rPr>
              <a:t>The live guide:  travis-coder712.github.io/studio/so-what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