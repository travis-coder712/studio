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Sheet1!$B$2:$B$15</c:f>
              <c:numCache>
                <c:formatCode>"$"0</c:formatCode>
                <c:ptCount val="14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  <c:pt idx="12">
                  <c:v>85</c:v>
                </c:pt>
                <c:pt idx="13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Sheet1!$C$2:$C$15</c:f>
              <c:numCache>
                <c:formatCode>"$"0</c:formatCode>
                <c:ptCount val="14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  <c:pt idx="12">
                  <c:v>75</c:v>
                </c:pt>
                <c:pt idx="13">
                  <c:v>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Sheet1!$D$2:$D$15</c:f>
              <c:numCache>
                <c:formatCode>"$"0</c:formatCode>
                <c:ptCount val="14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  <c:pt idx="12">
                  <c:v>80</c:v>
                </c:pt>
                <c:pt idx="13">
                  <c:v>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Sheet1!$E$2:$E$15</c:f>
              <c:numCache>
                <c:formatCode>"$"0</c:formatCode>
                <c:ptCount val="14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  <c:pt idx="12">
                  <c:v>62</c:v>
                </c:pt>
                <c:pt idx="13">
                  <c:v>71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Sheet1!$F$2:$F$15</c:f>
              <c:numCache>
                <c:formatCode>"$"0</c:formatCode>
                <c:ptCount val="14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0.00"×"</c:formatCode>
                <c:ptCount val="6"/>
                <c:pt idx="0">
                  <c:v>0.61</c:v>
                </c:pt>
                <c:pt idx="1">
                  <c:v>0.61</c:v>
                </c:pt>
                <c:pt idx="2">
                  <c:v>0.57</c:v>
                </c:pt>
                <c:pt idx="3">
                  <c:v>0.55</c:v>
                </c:pt>
                <c:pt idx="4">
                  <c:v>0.43</c:v>
                </c:pt>
                <c:pt idx="5">
                  <c:v>0.63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0.00"×"</c:formatCode>
                <c:ptCount val="6"/>
                <c:pt idx="0">
                  <c:v>0.57</c:v>
                </c:pt>
                <c:pt idx="1">
                  <c:v>0.52</c:v>
                </c:pt>
                <c:pt idx="2">
                  <c:v>0.36</c:v>
                </c:pt>
                <c:pt idx="3">
                  <c:v>0.36</c:v>
                </c:pt>
                <c:pt idx="4">
                  <c:v>0.28</c:v>
                </c:pt>
                <c:pt idx="5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0.00"×"</c:formatCode>
                <c:ptCount val="6"/>
                <c:pt idx="0">
                  <c:v>0.43</c:v>
                </c:pt>
                <c:pt idx="1">
                  <c:v>0.5</c:v>
                </c:pt>
                <c:pt idx="2">
                  <c:v>0.37</c:v>
                </c:pt>
                <c:pt idx="3">
                  <c:v>0.44</c:v>
                </c:pt>
                <c:pt idx="4">
                  <c:v>0.53</c:v>
                </c:pt>
                <c:pt idx="5">
                  <c:v>0.67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0.00"×"</c:formatCode>
                <c:ptCount val="6"/>
                <c:pt idx="0">
                  <c:v>0.43</c:v>
                </c:pt>
                <c:pt idx="1">
                  <c:v>0.57</c:v>
                </c:pt>
                <c:pt idx="2">
                  <c:v>0.37</c:v>
                </c:pt>
                <c:pt idx="3">
                  <c:v>0.37</c:v>
                </c:pt>
                <c:pt idx="4">
                  <c:v>0.34</c:v>
                </c:pt>
                <c:pt idx="5">
                  <c:v>0.57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Sheet1!$B$2:$B$9</c:f>
              <c:numCache>
                <c:formatCode>"$"0</c:formatCode>
                <c:ptCount val="8"/>
                <c:pt idx="0">
                  <c:v>890</c:v>
                </c:pt>
                <c:pt idx="1">
                  <c:v>345</c:v>
                </c:pt>
                <c:pt idx="2">
                  <c:v>382</c:v>
                </c:pt>
                <c:pt idx="3">
                  <c:v>517</c:v>
                </c:pt>
                <c:pt idx="4">
                  <c:v>376</c:v>
                </c:pt>
                <c:pt idx="5">
                  <c:v>234</c:v>
                </c:pt>
                <c:pt idx="6">
                  <c:v>526</c:v>
                </c:pt>
                <c:pt idx="7">
                  <c:v>278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Sheet1!$C$2:$C$9</c:f>
              <c:numCache>
                <c:formatCode>"$"0</c:formatCode>
                <c:ptCount val="8"/>
                <c:pt idx="0">
                  <c:v>439</c:v>
                </c:pt>
                <c:pt idx="1">
                  <c:v>761</c:v>
                </c:pt>
                <c:pt idx="2">
                  <c:v>318</c:v>
                </c:pt>
                <c:pt idx="3">
                  <c:v>685</c:v>
                </c:pt>
                <c:pt idx="4">
                  <c:v>210</c:v>
                </c:pt>
                <c:pt idx="5">
                  <c:v>321</c:v>
                </c:pt>
                <c:pt idx="6">
                  <c:v>203</c:v>
                </c:pt>
                <c:pt idx="7">
                  <c:v>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Sheet1!$D$2:$D$9</c:f>
              <c:numCache>
                <c:formatCode>"$"0</c:formatCode>
                <c:ptCount val="8"/>
                <c:pt idx="0">
                  <c:v>409</c:v>
                </c:pt>
                <c:pt idx="1">
                  <c:v>603</c:v>
                </c:pt>
                <c:pt idx="2">
                  <c:v>321</c:v>
                </c:pt>
                <c:pt idx="3">
                  <c:v>460</c:v>
                </c:pt>
                <c:pt idx="4">
                  <c:v>200</c:v>
                </c:pt>
                <c:pt idx="5">
                  <c:v>165</c:v>
                </c:pt>
                <c:pt idx="6">
                  <c:v>130</c:v>
                </c:pt>
                <c:pt idx="7">
                  <c:v>99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Sheet1!$E$2:$E$9</c:f>
              <c:numCache>
                <c:formatCode>"$"0</c:formatCode>
                <c:ptCount val="8"/>
                <c:pt idx="0">
                  <c:v>422</c:v>
                </c:pt>
                <c:pt idx="1">
                  <c:v>234</c:v>
                </c:pt>
                <c:pt idx="2">
                  <c:v>219</c:v>
                </c:pt>
                <c:pt idx="3">
                  <c:v>516</c:v>
                </c:pt>
                <c:pt idx="4">
                  <c:v>203</c:v>
                </c:pt>
                <c:pt idx="5">
                  <c:v>157</c:v>
                </c:pt>
                <c:pt idx="6">
                  <c:v>126</c:v>
                </c:pt>
                <c:pt idx="7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ONE FRAME TO CARRY IN — AND A THREAD TO 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11820"/>
                </a:solidFill>
                <a:latin typeface="Calibri"/>
              </a:rPr>
              <a:t>We go deep on the market because it's the force that 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37424F"/>
                </a:solidFill>
                <a:latin typeface="Calibri"/>
              </a:rPr>
              <a:t>A development cycle runs for </a:t>
            </a:r>
            <a:r>
              <a:rPr sz="1800" b="1" i="0">
                <a:solidFill>
                  <a:srgbClr val="111820"/>
                </a:solidFill>
                <a:latin typeface="Calibri"/>
              </a:rPr>
              <a:t>years</a:t>
            </a:r>
            <a:r>
              <a:rPr sz="1800" b="0" i="0">
                <a:solidFill>
                  <a:srgbClr val="37424F"/>
                </a:solidFill>
                <a:latin typeface="Calibri"/>
              </a:rPr>
              <a:t>; the market cycle turns in </a:t>
            </a:r>
            <a:r>
              <a:rPr sz="1800" b="1" i="0">
                <a:solidFill>
                  <a:srgbClr val="111820"/>
                </a:solidFill>
                <a:latin typeface="Calibri"/>
              </a:rPr>
              <a:t>months</a:t>
            </a:r>
            <a:r>
              <a:rPr sz="1800" b="0" i="0">
                <a:solidFill>
                  <a:srgbClr val="37424F"/>
                </a:solidFill>
                <a:latin typeface="Calibri"/>
              </a:rPr>
              <a:t>. So today we read the market closely — it swings the most, and it's the one worth re-reading with fresh data. A project sits inside other forces too — policy and support, capital, the asset's own fundamentals — but we already know those reasonably well, so we hold them lightly and keep the lens on the 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60520"/>
            <a:ext cx="11091672" cy="1234440"/>
          </a:xfrm>
          <a:prstGeom prst="rect">
            <a:avLst/>
          </a:prstGeom>
          <a:solidFill>
            <a:srgbClr val="E9E9FB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THE THREAD TO 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590288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11820"/>
                </a:solidFill>
                <a:latin typeface="Calibri"/>
              </a:rPr>
              <a:t>Day 2 — “So What?” — picks up right here: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having read the market, what do we actually change in how we develop? No need to resolve it now — just hold the thought; it lands tomorrow.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6717F"/>
                </a:solidFill>
                <a:latin typeface="Calibri"/>
              </a:rPr>
              <a:t>The market is one force among several — today we simply give it the closest read.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prices, and the forward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2022's gas shock towers over the decade; the last two points (CY27–28f) are the ASX forward — low and flat.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ASX forward (CY27–28):</a:t>
            </a:r>
            <a:r>
              <a:rPr sz="1600" b="0">
                <a:solidFill>
                  <a:srgbClr val="37424F"/>
                </a:solidFill>
                <a:latin typeface="Calibri"/>
              </a:rPr>
              <a:t> NSW ~$85, VIC ~$62–71 (cheapest), </a:t>
            </a:r>
            <a:r>
              <a:rPr sz="1600" b="1">
                <a:solidFill>
                  <a:srgbClr val="111820"/>
                </a:solidFill>
                <a:latin typeface="Calibri"/>
              </a:rPr>
              <a:t>SA in contango to ~$92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where projects hedge and lenders price risk.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Today's outturns re-rate the forward curve above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Cannibalisation by state — and the 2026 bounce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Why 2025 was the trough: +2.8 GW of solar (a record) landed before storage caught up, so midday negative-price frequency roughly doubled (NSW 13→30%, QLD 39→53%). In 2026 new solar paused (+0.3 GW) and ~8 GW of batteries began soaking the midday trough — so capture recovered everywhere (QLD 0.28→0.50, NSW 0.43→0.63). 2026 is YTD, so read the direction.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build by state — spread, size &amp;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Where the batteries are, how big and how long they last — against the spread they chase.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889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 (tb2)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Power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Energy GWh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Building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2.1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$188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2.0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$201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$384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NEM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1.9 hr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The tell: SA has the widest spread but the smallest, shortest batteries (power / FCAS-focused); NSW &amp; QLD hold the biggest fleets on thinner spreads. The build pipeline is deeper (2.5–3 hr) — the fleet is lengthening as the easy spread compresses.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spread by state, over time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SA stays the widest and most volatile; NSW, QLD and VIC have converged toward ~$100 as their fleets filled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Why 2025 was the trough:</a:t>
            </a:r>
            <a:r>
              <a:rPr sz="1600" b="0">
                <a:solidFill>
                  <a:srgbClr val="37424F"/>
                </a:solidFill>
                <a:latin typeface="Calibri"/>
              </a:rPr>
              <a:t> a record </a:t>
            </a:r>
            <a:r>
              <a:rPr sz="1600" b="1">
                <a:solidFill>
                  <a:srgbClr val="111820"/>
                </a:solidFill>
                <a:latin typeface="Calibri"/>
              </a:rPr>
              <a:t>+2.8 GW</a:t>
            </a:r>
            <a:r>
              <a:rPr sz="1600" b="0">
                <a:solidFill>
                  <a:srgbClr val="37424F"/>
                </a:solidFill>
                <a:latin typeface="Calibri"/>
              </a:rPr>
              <a:t> solar landed before storage caught up —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negatives ~doubled</a:t>
            </a:r>
            <a:r>
              <a:rPr sz="1600" b="0">
                <a:solidFill>
                  <a:srgbClr val="37424F"/>
                </a:solidFill>
                <a:latin typeface="Calibri"/>
              </a:rPr>
              <a:t> (NSW 13→30%); 2026's battery wave (~8 GW) soaked it back.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12.3 GW / 24 GWh operating; ~8 GW / 21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building.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8A8BF0"/>
                </a:solidFill>
                <a:latin typeface="Calibri"/>
              </a:rPr>
              <a:t>This is the paper cut. </a:t>
            </a:r>
            <a:r>
              <a:rPr sz="1350" b="0" i="0">
                <a:solidFill>
                  <a:srgbClr val="C2CAD4"/>
                </a:solidFill>
                <a:latin typeface="Calibri"/>
              </a:rPr>
              <a:t>The interactive version holds more — the two live calculators and the full “datasets on the table” for each topic. We'll find a clean way to surface those to the wider team afterwards.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