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Sheet1!$B$2:$B$13</c:f>
              <c:numCache>
                <c:formatCode>"$"0</c:formatCode>
                <c:ptCount val="12"/>
                <c:pt idx="0">
                  <c:v>39</c:v>
                </c:pt>
                <c:pt idx="1">
                  <c:v>59</c:v>
                </c:pt>
                <c:pt idx="2">
                  <c:v>96</c:v>
                </c:pt>
                <c:pt idx="3">
                  <c:v>82</c:v>
                </c:pt>
                <c:pt idx="4">
                  <c:v>85</c:v>
                </c:pt>
                <c:pt idx="5">
                  <c:v>60</c:v>
                </c:pt>
                <c:pt idx="6">
                  <c:v>67</c:v>
                </c:pt>
                <c:pt idx="7">
                  <c:v>183</c:v>
                </c:pt>
                <c:pt idx="8">
                  <c:v>96</c:v>
                </c:pt>
                <c:pt idx="9">
                  <c:v>131</c:v>
                </c:pt>
                <c:pt idx="10">
                  <c:v>103</c:v>
                </c:pt>
                <c:pt idx="11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Sheet1!$C$2:$C$13</c:f>
              <c:numCache>
                <c:formatCode>"$"0</c:formatCode>
                <c:ptCount val="12"/>
                <c:pt idx="0">
                  <c:v>52</c:v>
                </c:pt>
                <c:pt idx="1">
                  <c:v>67</c:v>
                </c:pt>
                <c:pt idx="2">
                  <c:v>102</c:v>
                </c:pt>
                <c:pt idx="3">
                  <c:v>75</c:v>
                </c:pt>
                <c:pt idx="4">
                  <c:v>72</c:v>
                </c:pt>
                <c:pt idx="5">
                  <c:v>41</c:v>
                </c:pt>
                <c:pt idx="6">
                  <c:v>93</c:v>
                </c:pt>
                <c:pt idx="7">
                  <c:v>205</c:v>
                </c:pt>
                <c:pt idx="8">
                  <c:v>91</c:v>
                </c:pt>
                <c:pt idx="9">
                  <c:v>112</c:v>
                </c:pt>
                <c:pt idx="10">
                  <c:v>85</c:v>
                </c:pt>
                <c:pt idx="11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Sheet1!$D$2:$D$13</c:f>
              <c:numCache>
                <c:formatCode>"$"0</c:formatCode>
                <c:ptCount val="12"/>
                <c:pt idx="0">
                  <c:v>50</c:v>
                </c:pt>
                <c:pt idx="1">
                  <c:v>81</c:v>
                </c:pt>
                <c:pt idx="2">
                  <c:v>105</c:v>
                </c:pt>
                <c:pt idx="3">
                  <c:v>100</c:v>
                </c:pt>
                <c:pt idx="4">
                  <c:v>99</c:v>
                </c:pt>
                <c:pt idx="5">
                  <c:v>44</c:v>
                </c:pt>
                <c:pt idx="6">
                  <c:v>45</c:v>
                </c:pt>
                <c:pt idx="7">
                  <c:v>156</c:v>
                </c:pt>
                <c:pt idx="8">
                  <c:v>80</c:v>
                </c:pt>
                <c:pt idx="9">
                  <c:v>100</c:v>
                </c:pt>
                <c:pt idx="10">
                  <c:v>87</c:v>
                </c:pt>
                <c:pt idx="11">
                  <c:v>87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Sheet1!$E$2:$E$13</c:f>
              <c:numCache>
                <c:formatCode>"$"0</c:formatCode>
                <c:ptCount val="12"/>
                <c:pt idx="0">
                  <c:v>34</c:v>
                </c:pt>
                <c:pt idx="1">
                  <c:v>47</c:v>
                </c:pt>
                <c:pt idx="2">
                  <c:v>92</c:v>
                </c:pt>
                <c:pt idx="3">
                  <c:v>91</c:v>
                </c:pt>
                <c:pt idx="4">
                  <c:v>109</c:v>
                </c:pt>
                <c:pt idx="5">
                  <c:v>52</c:v>
                </c:pt>
                <c:pt idx="6">
                  <c:v>36</c:v>
                </c:pt>
                <c:pt idx="7">
                  <c:v>134</c:v>
                </c:pt>
                <c:pt idx="8">
                  <c:v>55</c:v>
                </c:pt>
                <c:pt idx="9">
                  <c:v>82</c:v>
                </c:pt>
                <c:pt idx="10">
                  <c:v>78</c:v>
                </c:pt>
                <c:pt idx="11">
                  <c:v>49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TAS</c:v>
                </c:pt>
              </c:strCache>
            </c:strRef>
          </c:tx>
          <c:spPr>
            <a:ln w="28575">
              <a:solidFill>
                <a:srgbClr val="2EA3A3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Sheet1!$F$2:$F$13</c:f>
              <c:numCache>
                <c:formatCode>"$"0</c:formatCode>
                <c:ptCount val="12"/>
                <c:pt idx="0">
                  <c:v>48</c:v>
                </c:pt>
                <c:pt idx="1">
                  <c:v>96</c:v>
                </c:pt>
                <c:pt idx="2">
                  <c:v>98</c:v>
                </c:pt>
                <c:pt idx="3">
                  <c:v>74</c:v>
                </c:pt>
                <c:pt idx="4">
                  <c:v>94</c:v>
                </c:pt>
                <c:pt idx="5">
                  <c:v>43</c:v>
                </c:pt>
                <c:pt idx="6">
                  <c:v>32</c:v>
                </c:pt>
                <c:pt idx="7">
                  <c:v>147</c:v>
                </c:pt>
                <c:pt idx="8">
                  <c:v>56</c:v>
                </c:pt>
                <c:pt idx="9">
                  <c:v>96</c:v>
                </c:pt>
                <c:pt idx="10">
                  <c:v>96</c:v>
                </c:pt>
                <c:pt idx="11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4-hour “big batteries” needed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30%</c:v>
                </c:pt>
                <c:pt idx="1">
                  <c:v>50%</c:v>
                </c:pt>
                <c:pt idx="2">
                  <c:v>70%</c:v>
                </c:pt>
                <c:pt idx="3">
                  <c:v>80%</c:v>
                </c:pt>
                <c:pt idx="4">
                  <c:v>90%</c:v>
                </c:pt>
                <c:pt idx="5">
                  <c:v>95%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51</c:v>
                </c:pt>
                <c:pt idx="3">
                  <c:v>234</c:v>
                </c:pt>
                <c:pt idx="4">
                  <c:v>816</c:v>
                </c:pt>
                <c:pt idx="5">
                  <c:v>1222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28575">
              <a:solidFill>
                <a:srgbClr val="4A4BD6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Sheet1!$B$2:$B$11</c:f>
              <c:numCache>
                <c:formatCode>0" TWh"</c:formatCode>
                <c:ptCount val="10"/>
                <c:pt idx="0">
                  <c:v>181</c:v>
                </c:pt>
                <c:pt idx="1">
                  <c:v>178</c:v>
                </c:pt>
                <c:pt idx="2">
                  <c:v>177</c:v>
                </c:pt>
                <c:pt idx="3">
                  <c:v>177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 Change forecast</c:v>
                </c:pt>
              </c:strCache>
            </c:strRef>
          </c:tx>
          <c:spPr>
            <a:ln w="28575">
              <a:solidFill>
                <a:srgbClr val="8A8BF0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Sheet1!$C$2:$C$11</c:f>
              <c:numCache>
                <c:formatCode>0" TWh"</c:formatCode>
                <c:ptCount val="10"/>
                <c:pt idx="3">
                  <c:v>177</c:v>
                </c:pt>
                <c:pt idx="4">
                  <c:v>179</c:v>
                </c:pt>
                <c:pt idx="5">
                  <c:v>192</c:v>
                </c:pt>
                <c:pt idx="6">
                  <c:v>230</c:v>
                </c:pt>
                <c:pt idx="7">
                  <c:v>261</c:v>
                </c:pt>
                <c:pt idx="8">
                  <c:v>278</c:v>
                </c:pt>
                <c:pt idx="9">
                  <c:v>290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TWh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Solar value factor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0.0"×"</c:formatCode>
                <c:ptCount val="6"/>
                <c:pt idx="0">
                  <c:v>1.06</c:v>
                </c:pt>
                <c:pt idx="1">
                  <c:v>0.43</c:v>
                </c:pt>
                <c:pt idx="2">
                  <c:v>0.57</c:v>
                </c:pt>
                <c:pt idx="3">
                  <c:v>0.37</c:v>
                </c:pt>
                <c:pt idx="4">
                  <c:v>0.37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Wind value factor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0.0"×"</c:formatCode>
                <c:ptCount val="6"/>
                <c:pt idx="0">
                  <c:v>0.83</c:v>
                </c:pt>
                <c:pt idx="1">
                  <c:v>0.7</c:v>
                </c:pt>
                <c:pt idx="2">
                  <c:v>0.82</c:v>
                </c:pt>
                <c:pt idx="3">
                  <c:v>0.64</c:v>
                </c:pt>
                <c:pt idx="4">
                  <c:v>0.67</c:v>
                </c:pt>
                <c:pt idx="5">
                  <c:v>0.67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Top-2hr arbitrage spread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Sheet1!$A$2:$A$10</c:f>
              <c:strCache>
                <c:ptCount val="9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  <c:pt idx="8">
                  <c:v>Jun-26</c:v>
                </c:pt>
              </c:strCache>
            </c:strRef>
          </c:cat>
          <c:val>
            <c:numRef>
              <c:f>Sheet1!$B$2:$B$10</c:f>
              <c:numCache>
                <c:formatCode>"$"0</c:formatCode>
                <c:ptCount val="9"/>
                <c:pt idx="0">
                  <c:v>878</c:v>
                </c:pt>
                <c:pt idx="1">
                  <c:v>326</c:v>
                </c:pt>
                <c:pt idx="2">
                  <c:v>309</c:v>
                </c:pt>
                <c:pt idx="3">
                  <c:v>261</c:v>
                </c:pt>
                <c:pt idx="4">
                  <c:v>350</c:v>
                </c:pt>
                <c:pt idx="5">
                  <c:v>204</c:v>
                </c:pt>
                <c:pt idx="6">
                  <c:v>482</c:v>
                </c:pt>
                <c:pt idx="7">
                  <c:v>116</c:v>
                </c:pt>
                <c:pt idx="8">
                  <c:v>213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Proposed</c:v>
                </c:pt>
              </c:strCache>
            </c:strRef>
          </c:tx>
          <c:spPr>
            <a:ln w="28575">
              <a:solidFill>
                <a:srgbClr val="B4571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0" GW"</c:formatCode>
                <c:ptCount val="7"/>
                <c:pt idx="0">
                  <c:v>53</c:v>
                </c:pt>
                <c:pt idx="1">
                  <c:v>53</c:v>
                </c:pt>
                <c:pt idx="2">
                  <c:v>83</c:v>
                </c:pt>
                <c:pt idx="3">
                  <c:v>178</c:v>
                </c:pt>
                <c:pt idx="4">
                  <c:v>250</c:v>
                </c:pt>
                <c:pt idx="5">
                  <c:v>298</c:v>
                </c:pt>
                <c:pt idx="6">
                  <c:v>346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ln w="28575">
              <a:solidFill>
                <a:srgbClr val="2F7D3A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0" GW"</c:formatCode>
                <c:ptCount val="7"/>
                <c:pt idx="0">
                  <c:v>6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10</c:v>
                </c:pt>
                <c:pt idx="5">
                  <c:v>13</c:v>
                </c:pt>
                <c:pt idx="6">
                  <c:v>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Built (existing)</c:v>
                </c:pt>
              </c:strCache>
            </c:strRef>
          </c:tx>
          <c:spPr>
            <a:ln w="28575">
              <a:solidFill>
                <a:srgbClr val="8A94A1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0" GW"</c:formatCode>
                <c:ptCount val="7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55</c:v>
                </c:pt>
                <c:pt idx="4">
                  <c:v>59</c:v>
                </c:pt>
                <c:pt idx="5">
                  <c:v>61</c:v>
                </c:pt>
                <c:pt idx="6">
                  <c:v>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GW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50292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POWER DEVELOPMENT · TEAM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11820"/>
                </a:solidFill>
                <a:latin typeface="Calibri"/>
              </a:rPr>
              <a:t>Reading the 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7424F"/>
                </a:solidFill>
                <a:latin typeface="Calibri"/>
              </a:rPr>
              <a:t>Five ways the market is changing — and what it means for what we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11820"/>
                </a:solidFill>
                <a:latin typeface="Calibri"/>
              </a:rPr>
              <a:t>Your pack. 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Browse the data you're drawn to, argue with it, and come to the room with </a:t>
            </a:r>
            <a:r>
              <a:rPr sz="1600" b="1" i="0">
                <a:solidFill>
                  <a:srgbClr val="0D7D74"/>
                </a:solidFill>
                <a:latin typeface="Calibri"/>
              </a:rPr>
              <a:t>your own hypothesis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 — not a summary of what you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HOW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A fast, interactive 40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6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0:00–0:05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8379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Set the scene — the premise + how it runs; tables take their topic.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5623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PRESENTER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95728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0:05–0:11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9631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The idea + the long view — read your topic's opening chart and the big idea.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54096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729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0:11–0:27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546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Dig in — work the data and form a position on the questions.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1729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12464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0:27–0:40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813048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Report back — ~2 min a table: the key learning, the number, the surprise.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831336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31596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Two topics have a live calculator</a:t>
            </a:r>
            <a:r>
              <a:rPr sz="1300" b="0" i="0">
                <a:solidFill>
                  <a:srgbClr val="37424F"/>
                </a:solidFill>
                <a:latin typeface="Calibri"/>
              </a:rPr>
              <a:t>  — open the kit at travis-coder712.github.io/studio/nem-team-day and record your scenarios on the worksheet in this pack.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solidFill>
            <a:srgbClr val="E2F0EE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THE ONE RULE FOR REPORT-BACK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Key learnings, not a summary.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We want the one or two things you now believe that you didn't before — the key learning, the number that changed your mind, and the surprise. The provocations in this pack are here to push you to a position.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YOUR FIVE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Pick the data you're drawn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9144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48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Prices move in shock-driven cycles — and a small $/MWh move is a big move in returns.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33472"/>
            <a:ext cx="9144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0662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44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Storage is critical, and its volume climbs non-linearly toward 100% — a little gas tames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9584"/>
            <a:ext cx="9144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02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Flat for a decade — could it double? Rooftop hid the growth; shape matters as much as size.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25696"/>
            <a:ext cx="9144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98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9144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332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Most of the pipeline is a mirage — proposed, committed and built are worlds apart.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Prices move in shock-driven cycles — and because capex is fixed, a small $/MWh move is a big move in returns.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Where are we in the cycle right now — a calm, well-supplied moment, or one heatwave and one broken boiler from the next spike?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a decade of prices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Wholesale prices move in shock-driven cycles; 2022's gas shock towers over the decade, and today has eased.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NSW wholesale: </a:t>
            </a:r>
            <a:r>
              <a:rPr sz="1600" b="1">
                <a:solidFill>
                  <a:srgbClr val="111820"/>
                </a:solidFill>
                <a:latin typeface="Calibri"/>
              </a:rPr>
              <a:t>$60 (2020) → $183 (2022) → $74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; QLD hit </a:t>
            </a:r>
            <a:r>
              <a:rPr sz="1600" b="1">
                <a:solidFill>
                  <a:srgbClr val="111820"/>
                </a:solidFill>
                <a:latin typeface="Calibri"/>
              </a:rPr>
              <a:t>$205 in 2022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5× 2020.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June 2022: the NEM was suspended</a:t>
            </a:r>
            <a:r>
              <a:rPr sz="1600" b="0">
                <a:solidFill>
                  <a:srgbClr val="37424F"/>
                </a:solidFill>
                <a:latin typeface="Calibri"/>
              </a:rPr>
              <a:t> for the first time ever; the price cap held prices at $300.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Spike-hours (≥$300): NSW </a:t>
            </a:r>
            <a:r>
              <a:rPr sz="1600" b="1">
                <a:solidFill>
                  <a:srgbClr val="111820"/>
                </a:solidFill>
                <a:latin typeface="Calibri"/>
              </a:rPr>
              <a:t>1,393 in 2022 → 9 in 2026 YTD</a:t>
            </a:r>
            <a:r>
              <a:rPr sz="1600" b="0">
                <a:solidFill>
                  <a:srgbClr val="37424F"/>
                </a:solidFill>
                <a:latin typeface="Calibri"/>
              </a:rPr>
              <a:t>. The cap itself climbed $15k → $20k.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21 GW of coal</a:t>
            </a:r>
            <a:r>
              <a:rPr sz="1600" b="0">
                <a:solidFill>
                  <a:srgbClr val="37424F"/>
                </a:solidFill>
                <a:latin typeface="Calibri"/>
              </a:rPr>
              <a:t> still operating; ~6 GW exits 2028–29 (Yallourn, Eraring, Gladstone).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Rule of thumb: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of average demand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convex into scarcity (6 GW→$64, 9 GW→$246).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Returns leverage: a </a:t>
            </a:r>
            <a:r>
              <a:rPr sz="1600" b="1">
                <a:solidFill>
                  <a:srgbClr val="111820"/>
                </a:solidFill>
                <a:latin typeface="Calibri"/>
              </a:rPr>
              <a:t>$10/MWh swing ≈ +1 pt</a:t>
            </a:r>
            <a:r>
              <a:rPr sz="1600" b="0">
                <a:solidFill>
                  <a:srgbClr val="37424F"/>
                </a:solidFill>
                <a:latin typeface="Calibri"/>
              </a:rPr>
              <a:t> ungeared yield (~+2.6 pt geared) off a fixed ~$3m/MW capex.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These are market outturns — but they re-rate the ~3–4 yr forward curve and the long-term forecasts that underwrite FID.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today a calm, well-supplied moment — or one shock from the next spike?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would a repeat of 2022 do to the revenue our pipeline is underwritten 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Given the cycle, when in it would you want a project to reach FID?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the escalating price cap make merchant exposure more attractive — or just wider?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 do you think we sit in the cycle — and what would you do about timing?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Storage is critical, and the volume you need climbs non-linearly toward 100% — a little firm gas tames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To firm 90% wind + solar you need ~800 big batteries; 100% is a wall. How much gas keeps the number sane?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storage vs the target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Storage climbs far faster than linearly near 100%: ~50 batteries at 70%, ~800 at 90%, and 100% is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NEM is </a:t>
            </a:r>
            <a:r>
              <a:rPr sz="1600" b="1">
                <a:solidFill>
                  <a:srgbClr val="111820"/>
                </a:solidFill>
                <a:latin typeface="Calibri"/>
              </a:rPr>
              <a:t>~44% renewable today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wind+solar ~29%, plus hydro and rooftop).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Curtailment roughly </a:t>
            </a:r>
            <a:r>
              <a:rPr sz="1600" b="1">
                <a:solidFill>
                  <a:srgbClr val="111820"/>
                </a:solidFill>
                <a:latin typeface="Calibri"/>
              </a:rPr>
              <a:t>doubled to 7.4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in two years; SA solar spills </a:t>
            </a:r>
            <a:r>
              <a:rPr sz="1600" b="1">
                <a:solidFill>
                  <a:srgbClr val="111820"/>
                </a:solidFill>
                <a:latin typeface="Calibri"/>
              </a:rPr>
              <a:t>34%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its output.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Firming 90% ≈ </a:t>
            </a:r>
            <a:r>
              <a:rPr sz="1600" b="1">
                <a:solidFill>
                  <a:srgbClr val="111820"/>
                </a:solidFill>
                <a:latin typeface="Calibri"/>
              </a:rPr>
              <a:t>800 four-hour “big batteries”</a:t>
            </a:r>
            <a:r>
              <a:rPr sz="1600" b="0">
                <a:solidFill>
                  <a:srgbClr val="37424F"/>
                </a:solidFill>
                <a:latin typeface="Calibri"/>
              </a:rPr>
              <a:t>; 100% can't be done with 4-hr BESS alone.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Least storage lands at a </a:t>
            </a:r>
            <a:r>
              <a:rPr sz="1600" b="1">
                <a:solidFill>
                  <a:srgbClr val="111820"/>
                </a:solidFill>
                <a:latin typeface="Calibri"/>
              </a:rPr>
              <a:t>balanced ~40–55% wind mix</a:t>
            </a:r>
            <a:r>
              <a:rPr sz="1600" b="0">
                <a:solidFill>
                  <a:srgbClr val="37424F"/>
                </a:solidFill>
                <a:latin typeface="Calibri"/>
              </a:rPr>
              <a:t>; the firming sweet spot keeps ~10–12% gas.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Storage now sets the price 31.5%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the time (0.1% in 2015) — as often as all fossil combined.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objective isn't </a:t>
            </a:r>
            <a:r>
              <a:rPr sz="1600" b="1">
                <a:solidFill>
                  <a:srgbClr val="111820"/>
                </a:solidFill>
                <a:latin typeface="Calibri"/>
              </a:rPr>
              <a:t>0% spill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some is optimal; beyond a threshold, BESS time-shifts it into the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Assumptions (teaching model): wind CF ~34%, solar CF ~32% potential; 4-hr BESS = 500 MW / 2 GWh; demand ~184 TWh.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calculator (in the kit) and run these. Writing the outputs down is what makes the knee stick.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Wind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Overbuild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Batteries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Curtail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Today's stretch (~70%)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deep build (~90%)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Push to 100%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Least-storage mix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knee bites around ______% renewable.    Least storage is at ______% wind.    Keeping ~10% gas takes batteries from ______ to ______.    My hypothesis on the realistic target: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Where does the storage “knee” bite — and how much gas keeps the number sane?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wind/solar mix needs the least storage,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100% even the right target, or is the last slice a different technology problem?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Overbuild-and-spill vs store — where's the crossover for your project?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realistic renewable target, and what firms the last mile — storage, gas, or overbuild?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Demand's been flat for a decade — but that flatline hid real growth, and shape matters as much as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Rooftop quietly hid ~16 TWh of demand growth. Can it keep pace with EVs and data centres — or must the grid finally grow?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flat, then the climb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Operational demand sat flat ~177 TWh; the ISP central case bends up ~60% by 2050 (the range runs to ~2.4×).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Operational demand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supply after rooftop) was </a:t>
            </a:r>
            <a:r>
              <a:rPr sz="1600" b="1">
                <a:solidFill>
                  <a:srgbClr val="111820"/>
                </a:solidFill>
                <a:latin typeface="Calibri"/>
              </a:rPr>
              <a:t>flat ~177 TWh, 2020–25</a:t>
            </a:r>
            <a:r>
              <a:rPr sz="1600" b="0">
                <a:solidFill>
                  <a:srgbClr val="37424F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But </a:t>
            </a:r>
            <a:r>
              <a:rPr sz="1600" b="1">
                <a:solidFill>
                  <a:srgbClr val="111820"/>
                </a:solidFill>
                <a:latin typeface="Calibri"/>
              </a:rPr>
              <a:t>rooftop hid +16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behind the meter (13 → 29 TWh) — underlying use actually rose ~7%.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ISP range to 2050: </a:t>
            </a:r>
            <a:r>
              <a:rPr sz="1600" b="1">
                <a:solidFill>
                  <a:srgbClr val="111820"/>
                </a:solidFill>
                <a:latin typeface="Calibri"/>
              </a:rPr>
              <a:t>1.6–2.4×</a:t>
            </a:r>
            <a:r>
              <a:rPr sz="1600" b="0">
                <a:solidFill>
                  <a:srgbClr val="37424F"/>
                </a:solidFill>
                <a:latin typeface="Calibri"/>
              </a:rPr>
              <a:t> (could roughly double); central Step Change ~290 TWh (+62%).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EV load 0.9 → 61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(2026→2050); rooftop installs ~2.7 GW/yr; data centres 4.7 TWh, tripling by 2030.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Push rooftop to ~70 GW and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operational demand goes negative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the “canyon”.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Demand → price: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 demand growth is a tailwind to the price cycle.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“Operational demand” = total electricity use minus what rooftop serves behind the meter — what the grid must supply.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duck-curve calculator (in the kit) and run these. Record the belly and the peak — watch the shape move.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Rooftop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 TWh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Managed %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Data-ctr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Belly (min)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~2035 build-out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The rooftop 'canyon'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Unmanaged EV charging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belly goes negative at ______ GW of rooftop.    Managed → unmanaged EV swings the peak by ~______ GW.    My hypothesis — is it a size or a shape problem? 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Can rooftop keep pace with EV + electrification + data-centre load, or does the grid finally grow?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Managed vs unmanaged EV charging — how big is the swing in the evening peak?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build problem now the evening ramp and midday trough, not annual TWh?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of the three engines — EV, electrification, data centres — is nearest-term for us?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Does demand double — and is it a size problem or a shape problem?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Solar's captured value fell from 1.06× to 0.37× the pool — it did this to itself. Is the trough permanent?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cannibalisation, and how it cycles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Solar's value factor collapsed as it built out — but it cycles: scarcity lifts it, oversupply crushes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battery mirror — spread, not value factor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A battery lives on the price spread. It compressed from ~$500–880 to ~$100–200 as the fleet grew 4 → 60 — but it cycles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build by state — spread, size &amp;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Where the batteries are, how big and how long they last — against the spread they chase.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10515600" cy="2889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508760"/>
                <a:gridCol w="1508760"/>
                <a:gridCol w="1508760"/>
                <a:gridCol w="1508760"/>
                <a:gridCol w="1508760"/>
                <a:gridCol w="1508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Spread (tb2)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Batteries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Power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Energy GWh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Building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NSW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$276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2.1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QLD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$188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2.0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VIC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$201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2.8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$384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2.9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NEM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12.3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1.9 hr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5166360"/>
            <a:ext cx="10515600" cy="105156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276088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7424F"/>
                </a:solidFill>
                <a:latin typeface="Calibri"/>
              </a:rPr>
              <a:t>The tell: SA has the widest spread but the smallest, shortest batteries (power / FCAS-focused); NSW &amp; QLD hold the biggest fleets on thinner spreads. The build pipeline is deeper (2.5–3 hr) — the fleet is lengthening as the easy spread compresses.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VIC </a:t>
            </a:r>
            <a:r>
              <a:rPr sz="1600" b="1">
                <a:solidFill>
                  <a:srgbClr val="111820"/>
                </a:solidFill>
                <a:latin typeface="Calibri"/>
              </a:rPr>
              <a:t>solar value factor: 1.06× (2019) → 0.37× (2023–24 trough) → 0.67×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. It cycles.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“</a:t>
            </a:r>
            <a:r>
              <a:rPr sz="1600" b="1">
                <a:solidFill>
                  <a:srgbClr val="111820"/>
                </a:solidFill>
                <a:latin typeface="Calibri"/>
              </a:rPr>
              <a:t>Darkest before dawn</a:t>
            </a:r>
            <a:r>
              <a:rPr sz="1600" b="0">
                <a:solidFill>
                  <a:srgbClr val="37424F"/>
                </a:solidFill>
                <a:latin typeface="Calibri"/>
              </a:rPr>
              <a:t>”: worst while coal floods the midday; as coal exits, evening scarcity returns value.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Batteries: </a:t>
            </a:r>
            <a:r>
              <a:rPr sz="1600" b="1">
                <a:solidFill>
                  <a:srgbClr val="111820"/>
                </a:solidFill>
                <a:latin typeface="Calibri"/>
              </a:rPr>
              <a:t>top-2hr spread ~$500–880 → ~$100–200</a:t>
            </a:r>
            <a:r>
              <a:rPr sz="1600" b="0">
                <a:solidFill>
                  <a:srgbClr val="37424F"/>
                </a:solidFill>
                <a:latin typeface="Calibri"/>
              </a:rPr>
              <a:t> as the fleet grew 4 → 60 — but it spikes in volatile months.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Compression is BESS </a:t>
            </a:r>
            <a:r>
              <a:rPr sz="1600" b="1">
                <a:solidFill>
                  <a:srgbClr val="111820"/>
                </a:solidFill>
                <a:latin typeface="Calibri"/>
              </a:rPr>
              <a:t>and</a:t>
            </a:r>
            <a:r>
              <a:rPr sz="1600" b="0">
                <a:solidFill>
                  <a:srgbClr val="37424F"/>
                </a:solidFill>
                <a:latin typeface="Calibri"/>
              </a:rPr>
              <a:t> benign conditions — coal still in, mild weather, high unit availability.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fleet: </a:t>
            </a:r>
            <a:r>
              <a:rPr sz="1600" b="1">
                <a:solidFill>
                  <a:srgbClr val="111820"/>
                </a:solidFill>
                <a:latin typeface="Calibri"/>
              </a:rPr>
              <a:t>~65 batteries / 12.3 GW / 24 GWh operating; ~8 GW / 21 GWh 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 and building.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FCAS revenue fell ~90–95%</a:t>
            </a:r>
            <a:r>
              <a:rPr sz="1600" b="0">
                <a:solidFill>
                  <a:srgbClr val="37424F"/>
                </a:solidFill>
                <a:latin typeface="Calibri"/>
              </a:rPr>
              <a:t> in five years — a whole stream competed to near-zero.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Value factor is a generation idea; a battery's analog is the spread. Both erode as you build — and both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value-factor trough permanent, or does coal-exit evening scarcity bring it back?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that change whether — or when — you build, and whether to firm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The battery spread is compressing — is it BESS, benign conditions, or both? What happens next cycle?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Where's the value in 5 years — in energy, or in flexibility?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Most of the pipeline is a mirage — the gap between proposed, committed and built is enormous.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Of 105 GW “proposed” in 2022, only ~9 GW got built. Which signals separate the real projects from the mirage?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the mirage growing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Proposed capacity multiplied ~7× to 346 GW while committed and built crawled — the gap is the mirage.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Proposed 346 GW vs committed ~13 GW vs built ~70 GW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(2026) — a ~19:1 funnel.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Back-test: of </a:t>
            </a:r>
            <a:r>
              <a:rPr sz="1600" b="1">
                <a:solidFill>
                  <a:srgbClr val="111820"/>
                </a:solidFill>
                <a:latin typeface="Calibri"/>
              </a:rPr>
              <a:t>105.7 GW proposed in 2022, only ~9.6 GW built, 52.6 GW dropped</a:t>
            </a:r>
            <a:r>
              <a:rPr sz="1600" b="0">
                <a:solidFill>
                  <a:srgbClr val="37424F"/>
                </a:solidFill>
                <a:latin typeface="Calibri"/>
              </a:rPr>
              <a:t> by 2026 (~9% conversion).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Even “</a:t>
            </a:r>
            <a:r>
              <a:rPr sz="1600" b="1">
                <a:solidFill>
                  <a:srgbClr val="111820"/>
                </a:solidFill>
                <a:latin typeface="Calibri"/>
              </a:rPr>
              <a:t>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” isn't concrete: Snowy 2.0 has been committed 4+ years and still isn't built.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CIS: ~32 GW contracted, just 0.29 GW operating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a floor price is not a built asset.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Only </a:t>
            </a:r>
            <a:r>
              <a:rPr sz="1600" b="1">
                <a:solidFill>
                  <a:srgbClr val="111820"/>
                </a:solidFill>
                <a:latin typeface="Calibri"/>
              </a:rPr>
              <a:t>3 major transmission lines</a:t>
            </a:r>
            <a:r>
              <a:rPr sz="1600" b="0">
                <a:solidFill>
                  <a:srgbClr val="37424F"/>
                </a:solidFill>
                <a:latin typeface="Calibri"/>
              </a:rPr>
              <a:t> are in construction; ~30% of projects draw a full EPBC assessment.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Commissioning takes real time: </a:t>
            </a:r>
            <a:r>
              <a:rPr sz="1600" b="1">
                <a:solidFill>
                  <a:srgbClr val="111820"/>
                </a:solidFill>
                <a:latin typeface="Calibri"/>
              </a:rPr>
              <a:t>wind ~10 months, batteries ~7</a:t>
            </a:r>
            <a:r>
              <a:rPr sz="1600" b="0">
                <a:solidFill>
                  <a:srgbClr val="37424F"/>
                </a:solidFill>
                <a:latin typeface="Calibri"/>
              </a:rPr>
              <a:t> from first energisation.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 back-test is the crown jewel: “Committed” is a probability, not a promise — and the data can price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gate kills the most megawatts — connection, transmission, offtake, or planning?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early signal best separates the real projects from the mirage?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our screening assume anything remotely as brutal as ~9% proposed-to-built?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If you could unlock one transmission line, which frees the most generation?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one signal you'll check before believing a “pipeline” number?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REPORT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Three things — not 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Your position on the question — a view, not a recap.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828800"/>
            <a:ext cx="3566160" cy="10972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single figure that changed your mind.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1828800"/>
            <a:ext cx="3566160" cy="10972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one “I didn't realise that” moment.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Then, as a room: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Is 100% renewable the right target — or do we plan for ~90% + firm gas?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Heatwave, broken boiler, or data-centre boom — what's the biggest risk to the grid we're building for?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Every figure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2CAD4"/>
                </a:solidFill>
                <a:latin typeface="Calibri"/>
              </a:rPr>
              <a:t>Sourced from the AusEnergy “Lens” — a live database over the AEMO dispatch decade (2015→2026), ISP 2026, Open Electricity and the CER. As-at August 2026. The calculators and the storage/leverage figures are transparent teaching models, not planning tools — the point is the shape of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D7D74"/>
                </a:solidFill>
                <a:latin typeface="Consolas"/>
              </a:rPr>
              <a:t>Explore it all live:  travis-coder712.github.io/studio/nem-team-day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