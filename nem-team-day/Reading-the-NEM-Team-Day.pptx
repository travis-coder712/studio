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Sheet1!$B$2:$B$15</c:f>
              <c:numCache>
                <c:formatCode>"$"0</c:formatCode>
                <c:ptCount val="14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  <c:pt idx="12">
                  <c:v>85</c:v>
                </c:pt>
                <c:pt idx="13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Sheet1!$C$2:$C$15</c:f>
              <c:numCache>
                <c:formatCode>"$"0</c:formatCode>
                <c:ptCount val="14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  <c:pt idx="12">
                  <c:v>75</c:v>
                </c:pt>
                <c:pt idx="13">
                  <c:v>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Sheet1!$D$2:$D$15</c:f>
              <c:numCache>
                <c:formatCode>"$"0</c:formatCode>
                <c:ptCount val="14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  <c:pt idx="12">
                  <c:v>80</c:v>
                </c:pt>
                <c:pt idx="13">
                  <c:v>92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Sheet1!$E$2:$E$15</c:f>
              <c:numCache>
                <c:formatCode>"$"0</c:formatCode>
                <c:ptCount val="14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  <c:pt idx="12">
                  <c:v>62</c:v>
                </c:pt>
                <c:pt idx="13">
                  <c:v>71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Sheet1!$F$2:$F$15</c:f>
              <c:numCache>
                <c:formatCode>"$"0</c:formatCode>
                <c:ptCount val="14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3">
                  <c:v>0.64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0.00"×"</c:formatCode>
                <c:ptCount val="6"/>
                <c:pt idx="0">
                  <c:v>0.61</c:v>
                </c:pt>
                <c:pt idx="1">
                  <c:v>0.61</c:v>
                </c:pt>
                <c:pt idx="2">
                  <c:v>0.57</c:v>
                </c:pt>
                <c:pt idx="3">
                  <c:v>0.55</c:v>
                </c:pt>
                <c:pt idx="4">
                  <c:v>0.43</c:v>
                </c:pt>
                <c:pt idx="5">
                  <c:v>0.63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0.00"×"</c:formatCode>
                <c:ptCount val="6"/>
                <c:pt idx="0">
                  <c:v>0.57</c:v>
                </c:pt>
                <c:pt idx="1">
                  <c:v>0.52</c:v>
                </c:pt>
                <c:pt idx="2">
                  <c:v>0.36</c:v>
                </c:pt>
                <c:pt idx="3">
                  <c:v>0.36</c:v>
                </c:pt>
                <c:pt idx="4">
                  <c:v>0.28</c:v>
                </c:pt>
                <c:pt idx="5">
                  <c:v>0.5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0.00"×"</c:formatCode>
                <c:ptCount val="6"/>
                <c:pt idx="0">
                  <c:v>0.43</c:v>
                </c:pt>
                <c:pt idx="1">
                  <c:v>0.5</c:v>
                </c:pt>
                <c:pt idx="2">
                  <c:v>0.37</c:v>
                </c:pt>
                <c:pt idx="3">
                  <c:v>0.44</c:v>
                </c:pt>
                <c:pt idx="4">
                  <c:v>0.53</c:v>
                </c:pt>
                <c:pt idx="5">
                  <c:v>0.67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0.00"×"</c:formatCode>
                <c:ptCount val="6"/>
                <c:pt idx="0">
                  <c:v>0.43</c:v>
                </c:pt>
                <c:pt idx="1">
                  <c:v>0.57</c:v>
                </c:pt>
                <c:pt idx="2">
                  <c:v>0.37</c:v>
                </c:pt>
                <c:pt idx="3">
                  <c:v>0.37</c:v>
                </c:pt>
                <c:pt idx="4">
                  <c:v>0.34</c:v>
                </c:pt>
                <c:pt idx="5">
                  <c:v>0.57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Sheet1!$B$2:$B$9</c:f>
              <c:numCache>
                <c:formatCode>"$"0</c:formatCode>
                <c:ptCount val="8"/>
                <c:pt idx="0">
                  <c:v>890</c:v>
                </c:pt>
                <c:pt idx="1">
                  <c:v>345</c:v>
                </c:pt>
                <c:pt idx="2">
                  <c:v>382</c:v>
                </c:pt>
                <c:pt idx="3">
                  <c:v>517</c:v>
                </c:pt>
                <c:pt idx="4">
                  <c:v>376</c:v>
                </c:pt>
                <c:pt idx="5">
                  <c:v>234</c:v>
                </c:pt>
                <c:pt idx="6">
                  <c:v>526</c:v>
                </c:pt>
                <c:pt idx="7">
                  <c:v>278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Sheet1!$C$2:$C$9</c:f>
              <c:numCache>
                <c:formatCode>"$"0</c:formatCode>
                <c:ptCount val="8"/>
                <c:pt idx="0">
                  <c:v>439</c:v>
                </c:pt>
                <c:pt idx="1">
                  <c:v>761</c:v>
                </c:pt>
                <c:pt idx="2">
                  <c:v>318</c:v>
                </c:pt>
                <c:pt idx="3">
                  <c:v>685</c:v>
                </c:pt>
                <c:pt idx="4">
                  <c:v>210</c:v>
                </c:pt>
                <c:pt idx="5">
                  <c:v>321</c:v>
                </c:pt>
                <c:pt idx="6">
                  <c:v>203</c:v>
                </c:pt>
                <c:pt idx="7">
                  <c:v>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Sheet1!$D$2:$D$9</c:f>
              <c:numCache>
                <c:formatCode>"$"0</c:formatCode>
                <c:ptCount val="8"/>
                <c:pt idx="0">
                  <c:v>409</c:v>
                </c:pt>
                <c:pt idx="1">
                  <c:v>603</c:v>
                </c:pt>
                <c:pt idx="2">
                  <c:v>321</c:v>
                </c:pt>
                <c:pt idx="3">
                  <c:v>460</c:v>
                </c:pt>
                <c:pt idx="4">
                  <c:v>200</c:v>
                </c:pt>
                <c:pt idx="5">
                  <c:v>165</c:v>
                </c:pt>
                <c:pt idx="6">
                  <c:v>130</c:v>
                </c:pt>
                <c:pt idx="7">
                  <c:v>99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Sheet1!$E$2:$E$9</c:f>
              <c:numCache>
                <c:formatCode>"$"0</c:formatCode>
                <c:ptCount val="8"/>
                <c:pt idx="0">
                  <c:v>422</c:v>
                </c:pt>
                <c:pt idx="1">
                  <c:v>234</c:v>
                </c:pt>
                <c:pt idx="2">
                  <c:v>219</c:v>
                </c:pt>
                <c:pt idx="3">
                  <c:v>516</c:v>
                </c:pt>
                <c:pt idx="4">
                  <c:v>203</c:v>
                </c:pt>
                <c:pt idx="5">
                  <c:v>157</c:v>
                </c:pt>
                <c:pt idx="6">
                  <c:v>126</c:v>
                </c:pt>
                <c:pt idx="7">
                  <c:v>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ONE FRAME TO CARRY IN — AND A THREAD TO 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11820"/>
                </a:solidFill>
                <a:latin typeface="Calibri"/>
              </a:rPr>
              <a:t>We go deep on the market because it's the force that moves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881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37424F"/>
                </a:solidFill>
                <a:latin typeface="Calibri"/>
              </a:rPr>
              <a:t>A development cycle runs for </a:t>
            </a:r>
            <a:r>
              <a:rPr sz="1800" b="1" i="0">
                <a:solidFill>
                  <a:srgbClr val="111820"/>
                </a:solidFill>
                <a:latin typeface="Calibri"/>
              </a:rPr>
              <a:t>years</a:t>
            </a:r>
            <a:r>
              <a:rPr sz="1800" b="0" i="0">
                <a:solidFill>
                  <a:srgbClr val="37424F"/>
                </a:solidFill>
                <a:latin typeface="Calibri"/>
              </a:rPr>
              <a:t>; the market cycle turns in </a:t>
            </a:r>
            <a:r>
              <a:rPr sz="1800" b="1" i="0">
                <a:solidFill>
                  <a:srgbClr val="111820"/>
                </a:solidFill>
                <a:latin typeface="Calibri"/>
              </a:rPr>
              <a:t>months</a:t>
            </a:r>
            <a:r>
              <a:rPr sz="1800" b="0" i="0">
                <a:solidFill>
                  <a:srgbClr val="37424F"/>
                </a:solidFill>
                <a:latin typeface="Calibri"/>
              </a:rPr>
              <a:t>. So today we read the market closely — it swings the most, and it's the one worth re-reading with fresh data. A project sits inside other forces too — policy and support, capital, the asset's own fundamentals — but we already know those reasonably well, so we hold them lightly and keep the lens on the market.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60520"/>
            <a:ext cx="11091672" cy="1234440"/>
          </a:xfrm>
          <a:prstGeom prst="rect">
            <a:avLst/>
          </a:prstGeom>
          <a:solidFill>
            <a:srgbClr val="E9E9FB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2976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THE THREAD TO DAY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590288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11820"/>
                </a:solidFill>
                <a:latin typeface="Calibri"/>
              </a:rPr>
              <a:t>Day 2 — “So What?” — picks up right here: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having read the market, what do we actually change in how we develop? No need to resolve it now — just hold the thought; it lands tomorrow.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6717F"/>
                </a:solidFill>
                <a:latin typeface="Calibri"/>
              </a:rPr>
              <a:t>The market is one force among several — today we simply give it the closest read.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prices, and the forward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2022's gas shock towers over the decade; the last two points (CY27–28f) are the ASX forward — low and flat.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ASX forward (CY27–28):</a:t>
            </a:r>
            <a:r>
              <a:rPr sz="1600" b="0">
                <a:solidFill>
                  <a:srgbClr val="37424F"/>
                </a:solidFill>
                <a:latin typeface="Calibri"/>
              </a:rPr>
              <a:t> NSW ~$85, VIC ~$62–71 (cheapest), </a:t>
            </a:r>
            <a:r>
              <a:rPr sz="1600" b="1">
                <a:solidFill>
                  <a:srgbClr val="111820"/>
                </a:solidFill>
                <a:latin typeface="Calibri"/>
              </a:rPr>
              <a:t>SA in contango to ~$92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where projects hedge and lenders price risk.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Today's outturns re-rate the forward curve above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Cannibalisation by state — and the 2026 bounce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The trough is a 2023–25 story in every mainland state — and 2026 YTD charges back: QLD 0.28→0.50, VIC 0.34→0.57, NSW 0.43→0.63, SA 0.53→0.67. (2026 YTD is winter-weighted, so read the direction.)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build by state — spread, size &amp;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Where the batteries are, how big and how long they last — against the spread they chase.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10515600" cy="2889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Spread (tb2)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Batteries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Power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Energy GWh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Building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NSW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$276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2.1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QLD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$188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2.0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VIC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$201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$384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NEM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12.3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1.9 hr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166360"/>
            <a:ext cx="10515600" cy="105156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276088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7424F"/>
                </a:solidFill>
                <a:latin typeface="Calibri"/>
              </a:rPr>
              <a:t>The tell: SA has the widest spread but the smallest, shortest batteries (power / FCAS-focused); NSW &amp; QLD hold the biggest fleets on thinner spreads. The build pipeline is deeper (2.5–3 hr) — the fleet is lengthening as the easy spread compresses.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spread by state, over time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SA stays the widest and most volatile; NSW, QLD and VIC have converged toward ~$100 as their fleets filled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12.3 GW / 24 GWh operating; ~8 GW / 21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building.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8A8BF0"/>
                </a:solidFill>
                <a:latin typeface="Calibri"/>
              </a:rPr>
              <a:t>This is the paper cut. </a:t>
            </a:r>
            <a:r>
              <a:rPr sz="1350" b="0" i="0">
                <a:solidFill>
                  <a:srgbClr val="C2CAD4"/>
                </a:solidFill>
                <a:latin typeface="Calibri"/>
              </a:rPr>
              <a:t>The interactive version holds more — the two live calculators and the full “datasets on the table” for each topic. We'll find a clean way to surface those to the wider team afterwards.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