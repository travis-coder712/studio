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NSW</c:v>
                </c:pt>
              </c:strCache>
            </c:strRef>
          </c:tx>
          <c:spPr>
            <a:ln w="28575">
              <a:solidFill>
                <a:srgbClr val="3B82C4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CY27f</c:v>
                </c:pt>
                <c:pt idx="13">
                  <c:v>CY28f</c:v>
                </c:pt>
              </c:strCache>
            </c:strRef>
          </c:cat>
          <c:val>
            <c:numRef>
              <c:f>Sheet1!$B$2:$B$15</c:f>
              <c:numCache>
                <c:formatCode>"$"0</c:formatCode>
                <c:ptCount val="14"/>
                <c:pt idx="0">
                  <c:v>39</c:v>
                </c:pt>
                <c:pt idx="1">
                  <c:v>59</c:v>
                </c:pt>
                <c:pt idx="2">
                  <c:v>96</c:v>
                </c:pt>
                <c:pt idx="3">
                  <c:v>82</c:v>
                </c:pt>
                <c:pt idx="4">
                  <c:v>85</c:v>
                </c:pt>
                <c:pt idx="5">
                  <c:v>60</c:v>
                </c:pt>
                <c:pt idx="6">
                  <c:v>67</c:v>
                </c:pt>
                <c:pt idx="7">
                  <c:v>183</c:v>
                </c:pt>
                <c:pt idx="8">
                  <c:v>96</c:v>
                </c:pt>
                <c:pt idx="9">
                  <c:v>131</c:v>
                </c:pt>
                <c:pt idx="10">
                  <c:v>103</c:v>
                </c:pt>
                <c:pt idx="11">
                  <c:v>74</c:v>
                </c:pt>
                <c:pt idx="12">
                  <c:v>85</c:v>
                </c:pt>
                <c:pt idx="13">
                  <c:v>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QLD</c:v>
                </c:pt>
              </c:strCache>
            </c:strRef>
          </c:tx>
          <c:spPr>
            <a:ln w="28575">
              <a:solidFill>
                <a:srgbClr val="C1494A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CY27f</c:v>
                </c:pt>
                <c:pt idx="13">
                  <c:v>CY28f</c:v>
                </c:pt>
              </c:strCache>
            </c:strRef>
          </c:cat>
          <c:val>
            <c:numRef>
              <c:f>Sheet1!$C$2:$C$15</c:f>
              <c:numCache>
                <c:formatCode>"$"0</c:formatCode>
                <c:ptCount val="14"/>
                <c:pt idx="0">
                  <c:v>52</c:v>
                </c:pt>
                <c:pt idx="1">
                  <c:v>67</c:v>
                </c:pt>
                <c:pt idx="2">
                  <c:v>102</c:v>
                </c:pt>
                <c:pt idx="3">
                  <c:v>75</c:v>
                </c:pt>
                <c:pt idx="4">
                  <c:v>72</c:v>
                </c:pt>
                <c:pt idx="5">
                  <c:v>41</c:v>
                </c:pt>
                <c:pt idx="6">
                  <c:v>93</c:v>
                </c:pt>
                <c:pt idx="7">
                  <c:v>205</c:v>
                </c:pt>
                <c:pt idx="8">
                  <c:v>91</c:v>
                </c:pt>
                <c:pt idx="9">
                  <c:v>112</c:v>
                </c:pt>
                <c:pt idx="10">
                  <c:v>85</c:v>
                </c:pt>
                <c:pt idx="11">
                  <c:v>66</c:v>
                </c:pt>
                <c:pt idx="12">
                  <c:v>75</c:v>
                </c:pt>
                <c:pt idx="13">
                  <c:v>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</c:v>
                </c:pt>
              </c:strCache>
            </c:strRef>
          </c:tx>
          <c:spPr>
            <a:ln w="28575">
              <a:solidFill>
                <a:srgbClr val="D98A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CY27f</c:v>
                </c:pt>
                <c:pt idx="13">
                  <c:v>CY28f</c:v>
                </c:pt>
              </c:strCache>
            </c:strRef>
          </c:cat>
          <c:val>
            <c:numRef>
              <c:f>Sheet1!$D$2:$D$15</c:f>
              <c:numCache>
                <c:formatCode>"$"0</c:formatCode>
                <c:ptCount val="14"/>
                <c:pt idx="0">
                  <c:v>50</c:v>
                </c:pt>
                <c:pt idx="1">
                  <c:v>81</c:v>
                </c:pt>
                <c:pt idx="2">
                  <c:v>105</c:v>
                </c:pt>
                <c:pt idx="3">
                  <c:v>100</c:v>
                </c:pt>
                <c:pt idx="4">
                  <c:v>99</c:v>
                </c:pt>
                <c:pt idx="5">
                  <c:v>44</c:v>
                </c:pt>
                <c:pt idx="6">
                  <c:v>45</c:v>
                </c:pt>
                <c:pt idx="7">
                  <c:v>156</c:v>
                </c:pt>
                <c:pt idx="8">
                  <c:v>80</c:v>
                </c:pt>
                <c:pt idx="9">
                  <c:v>100</c:v>
                </c:pt>
                <c:pt idx="10">
                  <c:v>87</c:v>
                </c:pt>
                <c:pt idx="11">
                  <c:v>87</c:v>
                </c:pt>
                <c:pt idx="12">
                  <c:v>80</c:v>
                </c:pt>
                <c:pt idx="13">
                  <c:v>92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VIC</c:v>
                </c:pt>
              </c:strCache>
            </c:strRef>
          </c:tx>
          <c:spPr>
            <a:ln w="28575">
              <a:solidFill>
                <a:srgbClr val="7A5BD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CY27f</c:v>
                </c:pt>
                <c:pt idx="13">
                  <c:v>CY28f</c:v>
                </c:pt>
              </c:strCache>
            </c:strRef>
          </c:cat>
          <c:val>
            <c:numRef>
              <c:f>Sheet1!$E$2:$E$15</c:f>
              <c:numCache>
                <c:formatCode>"$"0</c:formatCode>
                <c:ptCount val="14"/>
                <c:pt idx="0">
                  <c:v>34</c:v>
                </c:pt>
                <c:pt idx="1">
                  <c:v>47</c:v>
                </c:pt>
                <c:pt idx="2">
                  <c:v>92</c:v>
                </c:pt>
                <c:pt idx="3">
                  <c:v>91</c:v>
                </c:pt>
                <c:pt idx="4">
                  <c:v>109</c:v>
                </c:pt>
                <c:pt idx="5">
                  <c:v>52</c:v>
                </c:pt>
                <c:pt idx="6">
                  <c:v>36</c:v>
                </c:pt>
                <c:pt idx="7">
                  <c:v>134</c:v>
                </c:pt>
                <c:pt idx="8">
                  <c:v>55</c:v>
                </c:pt>
                <c:pt idx="9">
                  <c:v>82</c:v>
                </c:pt>
                <c:pt idx="10">
                  <c:v>78</c:v>
                </c:pt>
                <c:pt idx="11">
                  <c:v>49</c:v>
                </c:pt>
                <c:pt idx="12">
                  <c:v>62</c:v>
                </c:pt>
                <c:pt idx="13">
                  <c:v>71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TAS</c:v>
                </c:pt>
              </c:strCache>
            </c:strRef>
          </c:tx>
          <c:spPr>
            <a:ln w="28575">
              <a:solidFill>
                <a:srgbClr val="2EA3A3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CY27f</c:v>
                </c:pt>
                <c:pt idx="13">
                  <c:v>CY28f</c:v>
                </c:pt>
              </c:strCache>
            </c:strRef>
          </c:cat>
          <c:val>
            <c:numRef>
              <c:f>Sheet1!$F$2:$F$15</c:f>
              <c:numCache>
                <c:formatCode>"$"0</c:formatCode>
                <c:ptCount val="14"/>
                <c:pt idx="0">
                  <c:v>48</c:v>
                </c:pt>
                <c:pt idx="1">
                  <c:v>96</c:v>
                </c:pt>
                <c:pt idx="2">
                  <c:v>98</c:v>
                </c:pt>
                <c:pt idx="3">
                  <c:v>74</c:v>
                </c:pt>
                <c:pt idx="4">
                  <c:v>94</c:v>
                </c:pt>
                <c:pt idx="5">
                  <c:v>43</c:v>
                </c:pt>
                <c:pt idx="6">
                  <c:v>32</c:v>
                </c:pt>
                <c:pt idx="7">
                  <c:v>147</c:v>
                </c:pt>
                <c:pt idx="8">
                  <c:v>56</c:v>
                </c:pt>
                <c:pt idx="9">
                  <c:v>96</c:v>
                </c:pt>
                <c:pt idx="10">
                  <c:v>96</c:v>
                </c:pt>
                <c:pt idx="11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6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AEEF2"/>
              </a:solidFill>
            </a:ln>
          </c:spPr>
        </c:majorGridlines>
        <c:numFmt formatCode="&quot;$&quot;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4-hour “big batteries” needed</c:v>
                </c:pt>
              </c:strCache>
            </c:strRef>
          </c:tx>
          <c:spPr>
            <a:ln w="28575">
              <a:solidFill>
                <a:srgbClr val="0D7D74"/>
              </a:solidFill>
            </a:ln>
          </c:spPr>
          <c:cat>
            <c:strRef>
              <c:f>Sheet1!$A$2:$A$7</c:f>
              <c:strCache>
                <c:ptCount val="6"/>
                <c:pt idx="0">
                  <c:v>30%</c:v>
                </c:pt>
                <c:pt idx="1">
                  <c:v>50%</c:v>
                </c:pt>
                <c:pt idx="2">
                  <c:v>70%</c:v>
                </c:pt>
                <c:pt idx="3">
                  <c:v>80%</c:v>
                </c:pt>
                <c:pt idx="4">
                  <c:v>90%</c:v>
                </c:pt>
                <c:pt idx="5">
                  <c:v>95%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12</c:v>
                </c:pt>
                <c:pt idx="2">
                  <c:v>51</c:v>
                </c:pt>
                <c:pt idx="3">
                  <c:v>234</c:v>
                </c:pt>
                <c:pt idx="4">
                  <c:v>816</c:v>
                </c:pt>
                <c:pt idx="5">
                  <c:v>1222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6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AEEF2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28575">
              <a:solidFill>
                <a:srgbClr val="4A4BD6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2030</c:v>
                </c:pt>
                <c:pt idx="6">
                  <c:v>2035</c:v>
                </c:pt>
                <c:pt idx="7">
                  <c:v>2040</c:v>
                </c:pt>
                <c:pt idx="8">
                  <c:v>2045</c:v>
                </c:pt>
                <c:pt idx="9">
                  <c:v>2050</c:v>
                </c:pt>
              </c:strCache>
            </c:strRef>
          </c:cat>
          <c:val>
            <c:numRef>
              <c:f>Sheet1!$B$2:$B$11</c:f>
              <c:numCache>
                <c:formatCode>0" TWh"</c:formatCode>
                <c:ptCount val="10"/>
                <c:pt idx="0">
                  <c:v>181</c:v>
                </c:pt>
                <c:pt idx="1">
                  <c:v>178</c:v>
                </c:pt>
                <c:pt idx="2">
                  <c:v>177</c:v>
                </c:pt>
                <c:pt idx="3">
                  <c:v>177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Change forecast (2026 ESOO)</c:v>
                </c:pt>
              </c:strCache>
            </c:strRef>
          </c:tx>
          <c:spPr>
            <a:ln w="28575">
              <a:solidFill>
                <a:srgbClr val="8A8BF0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2030</c:v>
                </c:pt>
                <c:pt idx="6">
                  <c:v>2035</c:v>
                </c:pt>
                <c:pt idx="7">
                  <c:v>2040</c:v>
                </c:pt>
                <c:pt idx="8">
                  <c:v>2045</c:v>
                </c:pt>
                <c:pt idx="9">
                  <c:v>2050</c:v>
                </c:pt>
              </c:strCache>
            </c:strRef>
          </c:cat>
          <c:val>
            <c:numRef>
              <c:f>Sheet1!$C$2:$C$11</c:f>
              <c:numCache>
                <c:formatCode>0" TWh"</c:formatCode>
                <c:ptCount val="10"/>
                <c:pt idx="3">
                  <c:v>177</c:v>
                </c:pt>
                <c:pt idx="4">
                  <c:v>180</c:v>
                </c:pt>
                <c:pt idx="5">
                  <c:v>197</c:v>
                </c:pt>
                <c:pt idx="6">
                  <c:v>243</c:v>
                </c:pt>
                <c:pt idx="7">
                  <c:v>278</c:v>
                </c:pt>
                <c:pt idx="8">
                  <c:v>305</c:v>
                </c:pt>
                <c:pt idx="9">
                  <c:v>329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6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AEEF2"/>
              </a:solidFill>
            </a:ln>
          </c:spPr>
        </c:majorGridlines>
        <c:numFmt formatCode="0&quot; TWh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value factor</c:v>
                </c:pt>
              </c:strCache>
            </c:strRef>
          </c:tx>
          <c:spPr>
            <a:ln w="28575">
              <a:solidFill>
                <a:srgbClr val="B21E46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0.0"×"</c:formatCode>
                <c:ptCount val="6"/>
                <c:pt idx="0">
                  <c:v>1.06</c:v>
                </c:pt>
                <c:pt idx="1">
                  <c:v>0.43</c:v>
                </c:pt>
                <c:pt idx="2">
                  <c:v>0.57</c:v>
                </c:pt>
                <c:pt idx="3">
                  <c:v>0.37</c:v>
                </c:pt>
                <c:pt idx="4">
                  <c:v>0.37</c:v>
                </c:pt>
                <c:pt idx="5">
                  <c:v>0.67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value factor</c:v>
                </c:pt>
              </c:strCache>
            </c:strRef>
          </c:tx>
          <c:spPr>
            <a:ln w="28575">
              <a:solidFill>
                <a:srgbClr val="0D7D74"/>
              </a:solidFill>
            </a:ln>
          </c:spP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0.0"×"</c:formatCode>
                <c:ptCount val="6"/>
                <c:pt idx="0">
                  <c:v>0.83</c:v>
                </c:pt>
                <c:pt idx="1">
                  <c:v>0.7</c:v>
                </c:pt>
                <c:pt idx="2">
                  <c:v>0.82</c:v>
                </c:pt>
                <c:pt idx="3">
                  <c:v>0.64</c:v>
                </c:pt>
                <c:pt idx="4">
                  <c:v>0.67</c:v>
                </c:pt>
                <c:pt idx="5">
                  <c:v>0.67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6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AEEF2"/>
              </a:solidFill>
            </a:ln>
          </c:spPr>
        </c:majorGridlines>
        <c:numFmt formatCode="0.0&quot;×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NSW</c:v>
                </c:pt>
              </c:strCache>
            </c:strRef>
          </c:tx>
          <c:spPr>
            <a:ln w="28575">
              <a:solidFill>
                <a:srgbClr val="3B82C4"/>
              </a:solidFill>
            </a:ln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0.00"×"</c:formatCode>
                <c:ptCount val="6"/>
                <c:pt idx="0">
                  <c:v>0.61</c:v>
                </c:pt>
                <c:pt idx="1">
                  <c:v>0.61</c:v>
                </c:pt>
                <c:pt idx="2">
                  <c:v>0.57</c:v>
                </c:pt>
                <c:pt idx="3">
                  <c:v>0.55</c:v>
                </c:pt>
                <c:pt idx="4">
                  <c:v>0.43</c:v>
                </c:pt>
                <c:pt idx="5">
                  <c:v>0.63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QLD</c:v>
                </c:pt>
              </c:strCache>
            </c:strRef>
          </c:tx>
          <c:spPr>
            <a:ln w="28575">
              <a:solidFill>
                <a:srgbClr val="C1494A"/>
              </a:solidFill>
            </a:ln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0.00"×"</c:formatCode>
                <c:ptCount val="6"/>
                <c:pt idx="0">
                  <c:v>0.57</c:v>
                </c:pt>
                <c:pt idx="1">
                  <c:v>0.52</c:v>
                </c:pt>
                <c:pt idx="2">
                  <c:v>0.36</c:v>
                </c:pt>
                <c:pt idx="3">
                  <c:v>0.36</c:v>
                </c:pt>
                <c:pt idx="4">
                  <c:v>0.28</c:v>
                </c:pt>
                <c:pt idx="5">
                  <c:v>0.5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</c:v>
                </c:pt>
              </c:strCache>
            </c:strRef>
          </c:tx>
          <c:spPr>
            <a:ln w="28575">
              <a:solidFill>
                <a:srgbClr val="D98A2B"/>
              </a:solidFill>
            </a:ln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0.00"×"</c:formatCode>
                <c:ptCount val="6"/>
                <c:pt idx="0">
                  <c:v>0.43</c:v>
                </c:pt>
                <c:pt idx="1">
                  <c:v>0.5</c:v>
                </c:pt>
                <c:pt idx="2">
                  <c:v>0.37</c:v>
                </c:pt>
                <c:pt idx="3">
                  <c:v>0.44</c:v>
                </c:pt>
                <c:pt idx="4">
                  <c:v>0.53</c:v>
                </c:pt>
                <c:pt idx="5">
                  <c:v>0.67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VIC</c:v>
                </c:pt>
              </c:strCache>
            </c:strRef>
          </c:tx>
          <c:spPr>
            <a:ln w="28575">
              <a:solidFill>
                <a:srgbClr val="7A5BD0"/>
              </a:solidFill>
            </a:ln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0.00"×"</c:formatCode>
                <c:ptCount val="6"/>
                <c:pt idx="0">
                  <c:v>0.43</c:v>
                </c:pt>
                <c:pt idx="1">
                  <c:v>0.57</c:v>
                </c:pt>
                <c:pt idx="2">
                  <c:v>0.37</c:v>
                </c:pt>
                <c:pt idx="3">
                  <c:v>0.37</c:v>
                </c:pt>
                <c:pt idx="4">
                  <c:v>0.34</c:v>
                </c:pt>
                <c:pt idx="5">
                  <c:v>0.57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6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AEEF2"/>
              </a:solidFill>
            </a:ln>
          </c:spPr>
        </c:majorGridlines>
        <c:numFmt formatCode="0.00&quot;×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Top-2hr arbitrage spread</c:v>
                </c:pt>
              </c:strCache>
            </c:strRef>
          </c:tx>
          <c:spPr>
            <a:ln w="28575">
              <a:solidFill>
                <a:srgbClr val="B21E46"/>
              </a:solidFill>
            </a:ln>
          </c:spPr>
          <c:cat>
            <c:strRef>
              <c:f>Sheet1!$A$2:$A$10</c:f>
              <c:strCache>
                <c:ptCount val="9"/>
                <c:pt idx="0">
                  <c:v>Jul-24</c:v>
                </c:pt>
                <c:pt idx="1">
                  <c:v>Oct-24</c:v>
                </c:pt>
                <c:pt idx="2">
                  <c:v>Jan-25</c:v>
                </c:pt>
                <c:pt idx="3">
                  <c:v>Apr-25</c:v>
                </c:pt>
                <c:pt idx="4">
                  <c:v>Jul-25</c:v>
                </c:pt>
                <c:pt idx="5">
                  <c:v>Oct-25</c:v>
                </c:pt>
                <c:pt idx="6">
                  <c:v>Jan-26</c:v>
                </c:pt>
                <c:pt idx="7">
                  <c:v>Apr-26</c:v>
                </c:pt>
                <c:pt idx="8">
                  <c:v>Jun-26</c:v>
                </c:pt>
              </c:strCache>
            </c:strRef>
          </c:cat>
          <c:val>
            <c:numRef>
              <c:f>Sheet1!$B$2:$B$10</c:f>
              <c:numCache>
                <c:formatCode>"$"0</c:formatCode>
                <c:ptCount val="9"/>
                <c:pt idx="0">
                  <c:v>878</c:v>
                </c:pt>
                <c:pt idx="1">
                  <c:v>326</c:v>
                </c:pt>
                <c:pt idx="2">
                  <c:v>309</c:v>
                </c:pt>
                <c:pt idx="3">
                  <c:v>261</c:v>
                </c:pt>
                <c:pt idx="4">
                  <c:v>350</c:v>
                </c:pt>
                <c:pt idx="5">
                  <c:v>204</c:v>
                </c:pt>
                <c:pt idx="6">
                  <c:v>482</c:v>
                </c:pt>
                <c:pt idx="7">
                  <c:v>116</c:v>
                </c:pt>
                <c:pt idx="8">
                  <c:v>213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6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AEEF2"/>
              </a:solidFill>
            </a:ln>
          </c:spPr>
        </c:majorGridlines>
        <c:numFmt formatCode="&quot;$&quot;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</c:v>
                </c:pt>
              </c:strCache>
            </c:strRef>
          </c:tx>
          <c:spPr>
            <a:ln w="28575">
              <a:solidFill>
                <a:srgbClr val="D98A2B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Jul-24</c:v>
                </c:pt>
                <c:pt idx="1">
                  <c:v>Oct-24</c:v>
                </c:pt>
                <c:pt idx="2">
                  <c:v>Jan-25</c:v>
                </c:pt>
                <c:pt idx="3">
                  <c:v>Apr-25</c:v>
                </c:pt>
                <c:pt idx="4">
                  <c:v>Jul-25</c:v>
                </c:pt>
                <c:pt idx="5">
                  <c:v>Oct-25</c:v>
                </c:pt>
                <c:pt idx="6">
                  <c:v>Jan-26</c:v>
                </c:pt>
                <c:pt idx="7">
                  <c:v>Apr-26</c:v>
                </c:pt>
              </c:strCache>
            </c:strRef>
          </c:cat>
          <c:val>
            <c:numRef>
              <c:f>Sheet1!$B$2:$B$9</c:f>
              <c:numCache>
                <c:formatCode>"$"0</c:formatCode>
                <c:ptCount val="8"/>
                <c:pt idx="0">
                  <c:v>890</c:v>
                </c:pt>
                <c:pt idx="1">
                  <c:v>345</c:v>
                </c:pt>
                <c:pt idx="2">
                  <c:v>382</c:v>
                </c:pt>
                <c:pt idx="3">
                  <c:v>517</c:v>
                </c:pt>
                <c:pt idx="4">
                  <c:v>376</c:v>
                </c:pt>
                <c:pt idx="5">
                  <c:v>234</c:v>
                </c:pt>
                <c:pt idx="6">
                  <c:v>526</c:v>
                </c:pt>
                <c:pt idx="7">
                  <c:v>278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NSW</c:v>
                </c:pt>
              </c:strCache>
            </c:strRef>
          </c:tx>
          <c:spPr>
            <a:ln w="28575">
              <a:solidFill>
                <a:srgbClr val="3B82C4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Jul-24</c:v>
                </c:pt>
                <c:pt idx="1">
                  <c:v>Oct-24</c:v>
                </c:pt>
                <c:pt idx="2">
                  <c:v>Jan-25</c:v>
                </c:pt>
                <c:pt idx="3">
                  <c:v>Apr-25</c:v>
                </c:pt>
                <c:pt idx="4">
                  <c:v>Jul-25</c:v>
                </c:pt>
                <c:pt idx="5">
                  <c:v>Oct-25</c:v>
                </c:pt>
                <c:pt idx="6">
                  <c:v>Jan-26</c:v>
                </c:pt>
                <c:pt idx="7">
                  <c:v>Apr-26</c:v>
                </c:pt>
              </c:strCache>
            </c:strRef>
          </c:cat>
          <c:val>
            <c:numRef>
              <c:f>Sheet1!$C$2:$C$9</c:f>
              <c:numCache>
                <c:formatCode>"$"0</c:formatCode>
                <c:ptCount val="8"/>
                <c:pt idx="0">
                  <c:v>439</c:v>
                </c:pt>
                <c:pt idx="1">
                  <c:v>761</c:v>
                </c:pt>
                <c:pt idx="2">
                  <c:v>318</c:v>
                </c:pt>
                <c:pt idx="3">
                  <c:v>685</c:v>
                </c:pt>
                <c:pt idx="4">
                  <c:v>210</c:v>
                </c:pt>
                <c:pt idx="5">
                  <c:v>321</c:v>
                </c:pt>
                <c:pt idx="6">
                  <c:v>203</c:v>
                </c:pt>
                <c:pt idx="7">
                  <c:v>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QLD</c:v>
                </c:pt>
              </c:strCache>
            </c:strRef>
          </c:tx>
          <c:spPr>
            <a:ln w="28575">
              <a:solidFill>
                <a:srgbClr val="C1494A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Jul-24</c:v>
                </c:pt>
                <c:pt idx="1">
                  <c:v>Oct-24</c:v>
                </c:pt>
                <c:pt idx="2">
                  <c:v>Jan-25</c:v>
                </c:pt>
                <c:pt idx="3">
                  <c:v>Apr-25</c:v>
                </c:pt>
                <c:pt idx="4">
                  <c:v>Jul-25</c:v>
                </c:pt>
                <c:pt idx="5">
                  <c:v>Oct-25</c:v>
                </c:pt>
                <c:pt idx="6">
                  <c:v>Jan-26</c:v>
                </c:pt>
                <c:pt idx="7">
                  <c:v>Apr-26</c:v>
                </c:pt>
              </c:strCache>
            </c:strRef>
          </c:cat>
          <c:val>
            <c:numRef>
              <c:f>Sheet1!$D$2:$D$9</c:f>
              <c:numCache>
                <c:formatCode>"$"0</c:formatCode>
                <c:ptCount val="8"/>
                <c:pt idx="0">
                  <c:v>409</c:v>
                </c:pt>
                <c:pt idx="1">
                  <c:v>603</c:v>
                </c:pt>
                <c:pt idx="2">
                  <c:v>321</c:v>
                </c:pt>
                <c:pt idx="3">
                  <c:v>460</c:v>
                </c:pt>
                <c:pt idx="4">
                  <c:v>200</c:v>
                </c:pt>
                <c:pt idx="5">
                  <c:v>165</c:v>
                </c:pt>
                <c:pt idx="6">
                  <c:v>130</c:v>
                </c:pt>
                <c:pt idx="7">
                  <c:v>99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VIC</c:v>
                </c:pt>
              </c:strCache>
            </c:strRef>
          </c:tx>
          <c:spPr>
            <a:ln w="28575">
              <a:solidFill>
                <a:srgbClr val="7A5BD0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Jul-24</c:v>
                </c:pt>
                <c:pt idx="1">
                  <c:v>Oct-24</c:v>
                </c:pt>
                <c:pt idx="2">
                  <c:v>Jan-25</c:v>
                </c:pt>
                <c:pt idx="3">
                  <c:v>Apr-25</c:v>
                </c:pt>
                <c:pt idx="4">
                  <c:v>Jul-25</c:v>
                </c:pt>
                <c:pt idx="5">
                  <c:v>Oct-25</c:v>
                </c:pt>
                <c:pt idx="6">
                  <c:v>Jan-26</c:v>
                </c:pt>
                <c:pt idx="7">
                  <c:v>Apr-26</c:v>
                </c:pt>
              </c:strCache>
            </c:strRef>
          </c:cat>
          <c:val>
            <c:numRef>
              <c:f>Sheet1!$E$2:$E$9</c:f>
              <c:numCache>
                <c:formatCode>"$"0</c:formatCode>
                <c:ptCount val="8"/>
                <c:pt idx="0">
                  <c:v>422</c:v>
                </c:pt>
                <c:pt idx="1">
                  <c:v>234</c:v>
                </c:pt>
                <c:pt idx="2">
                  <c:v>219</c:v>
                </c:pt>
                <c:pt idx="3">
                  <c:v>516</c:v>
                </c:pt>
                <c:pt idx="4">
                  <c:v>203</c:v>
                </c:pt>
                <c:pt idx="5">
                  <c:v>157</c:v>
                </c:pt>
                <c:pt idx="6">
                  <c:v>126</c:v>
                </c:pt>
                <c:pt idx="7">
                  <c:v>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6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AEEF2"/>
              </a:solidFill>
            </a:ln>
          </c:spPr>
        </c:majorGridlines>
        <c:numFmt formatCode="&quot;$&quot;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Proposed</c:v>
                </c:pt>
              </c:strCache>
            </c:strRef>
          </c:tx>
          <c:spPr>
            <a:ln w="28575">
              <a:solidFill>
                <a:srgbClr val="B4571F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0" GW"</c:formatCode>
                <c:ptCount val="7"/>
                <c:pt idx="0">
                  <c:v>53</c:v>
                </c:pt>
                <c:pt idx="1">
                  <c:v>53</c:v>
                </c:pt>
                <c:pt idx="2">
                  <c:v>83</c:v>
                </c:pt>
                <c:pt idx="3">
                  <c:v>178</c:v>
                </c:pt>
                <c:pt idx="4">
                  <c:v>250</c:v>
                </c:pt>
                <c:pt idx="5">
                  <c:v>298</c:v>
                </c:pt>
                <c:pt idx="6">
                  <c:v>346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Committed</c:v>
                </c:pt>
              </c:strCache>
            </c:strRef>
          </c:tx>
          <c:spPr>
            <a:ln w="28575">
              <a:solidFill>
                <a:srgbClr val="2F7D3A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Sheet1!$C$2:$C$8</c:f>
              <c:numCache>
                <c:formatCode>0" GW"</c:formatCode>
                <c:ptCount val="7"/>
                <c:pt idx="0">
                  <c:v>6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10</c:v>
                </c:pt>
                <c:pt idx="5">
                  <c:v>13</c:v>
                </c:pt>
                <c:pt idx="6">
                  <c:v>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Built (existing)</c:v>
                </c:pt>
              </c:strCache>
            </c:strRef>
          </c:tx>
          <c:spPr>
            <a:ln w="28575">
              <a:solidFill>
                <a:srgbClr val="8A94A1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Sheet1!$D$2:$D$8</c:f>
              <c:numCache>
                <c:formatCode>0" GW"</c:formatCode>
                <c:ptCount val="7"/>
                <c:pt idx="0">
                  <c:v>52</c:v>
                </c:pt>
                <c:pt idx="1">
                  <c:v>55</c:v>
                </c:pt>
                <c:pt idx="2">
                  <c:v>57</c:v>
                </c:pt>
                <c:pt idx="3">
                  <c:v>55</c:v>
                </c:pt>
                <c:pt idx="4">
                  <c:v>59</c:v>
                </c:pt>
                <c:pt idx="5">
                  <c:v>61</c:v>
                </c:pt>
                <c:pt idx="6">
                  <c:v>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EE6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AEEF2"/>
              </a:solidFill>
            </a:ln>
          </c:spPr>
        </c:majorGridlines>
        <c:numFmt formatCode="0&quot; GW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502920" cy="4572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POWER DEVELOPMENT · TEAM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111820"/>
                </a:solidFill>
                <a:latin typeface="Calibri"/>
              </a:rPr>
              <a:t>Reading the NEM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37424F"/>
                </a:solidFill>
                <a:latin typeface="Calibri"/>
              </a:rPr>
              <a:t>Five ways the market is changing — and what it means for what we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11820"/>
                </a:solidFill>
                <a:latin typeface="Calibri"/>
              </a:rPr>
              <a:t>Your pack. </a:t>
            </a:r>
            <a:r>
              <a:rPr sz="1600" b="0" i="0">
                <a:solidFill>
                  <a:srgbClr val="37424F"/>
                </a:solidFill>
                <a:latin typeface="Calibri"/>
              </a:rPr>
              <a:t>Browse the data you're drawn to, argue with it, and come to the room with </a:t>
            </a:r>
            <a:r>
              <a:rPr sz="1600" b="1" i="0">
                <a:solidFill>
                  <a:srgbClr val="0D7D74"/>
                </a:solidFill>
                <a:latin typeface="Calibri"/>
              </a:rPr>
              <a:t>your own hypothesis</a:t>
            </a:r>
            <a:r>
              <a:rPr sz="1600" b="0" i="0">
                <a:solidFill>
                  <a:srgbClr val="37424F"/>
                </a:solidFill>
                <a:latin typeface="Calibri"/>
              </a:rPr>
              <a:t> — not a summary of what you 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HOW THIS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11820"/>
                </a:solidFill>
                <a:latin typeface="Calibri"/>
              </a:rPr>
              <a:t>A fast, interactive 40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1556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562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D7D74"/>
                </a:solidFill>
                <a:latin typeface="Consolas"/>
              </a:rPr>
              <a:t>0:00–0:05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3794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7424F"/>
                </a:solidFill>
                <a:latin typeface="Calibri"/>
              </a:rPr>
              <a:t>Set the scene — the premise + how it runs; tables take their topic.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85623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6717F"/>
                </a:solidFill>
                <a:latin typeface="Consolas"/>
              </a:rPr>
              <a:t>PRESENTER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111556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D7D74"/>
                </a:solidFill>
                <a:latin typeface="Consolas"/>
              </a:rPr>
              <a:t>0:05–0:11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96312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7424F"/>
                </a:solidFill>
                <a:latin typeface="Calibri"/>
              </a:rPr>
              <a:t>The idea + the long view — read your topic's opening chart and the big idea.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6717F"/>
                </a:solidFill>
                <a:latin typeface="Consolas"/>
              </a:rPr>
              <a:t>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54096"/>
            <a:ext cx="111556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729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D7D74"/>
                </a:solidFill>
                <a:latin typeface="Consolas"/>
              </a:rPr>
              <a:t>0:11–0:27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5468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7424F"/>
                </a:solidFill>
                <a:latin typeface="Calibri"/>
              </a:rPr>
              <a:t>Dig in — work the data and form a position on the questions.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17296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6717F"/>
                </a:solidFill>
                <a:latin typeface="Consolas"/>
              </a:rPr>
              <a:t>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12464"/>
            <a:ext cx="111556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3133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D7D74"/>
                </a:solidFill>
                <a:latin typeface="Consolas"/>
              </a:rPr>
              <a:t>0:27–0:40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813048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7424F"/>
                </a:solidFill>
                <a:latin typeface="Calibri"/>
              </a:rPr>
              <a:t>Report back — ~2 min a table: the key learning, the number, the surprise.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83133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6717F"/>
                </a:solidFill>
                <a:latin typeface="Consolas"/>
              </a:rPr>
              <a:t>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15968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11820"/>
                </a:solidFill>
                <a:latin typeface="Calibri"/>
              </a:rPr>
              <a:t>Two topics have a live calculator</a:t>
            </a:r>
            <a:r>
              <a:rPr sz="1300" b="0" i="0">
                <a:solidFill>
                  <a:srgbClr val="37424F"/>
                </a:solidFill>
                <a:latin typeface="Calibri"/>
              </a:rPr>
              <a:t>  — open the kit at travis-coder712.github.io/studio/nem-team-day and record your scenarios on the worksheet in this pack.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155680" cy="1371600"/>
          </a:xfrm>
          <a:prstGeom prst="rect">
            <a:avLst/>
          </a:prstGeom>
          <a:solidFill>
            <a:srgbClr val="E2F0EE"/>
          </a:solidFill>
          <a:ln w="9525">
            <a:solidFill>
              <a:srgbClr val="0D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D7D74"/>
                </a:solidFill>
                <a:latin typeface="Consolas"/>
              </a:rPr>
              <a:t>THE ONE RULE FOR REPORT-BACK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11820"/>
                </a:solidFill>
                <a:latin typeface="Calibri"/>
              </a:rPr>
              <a:t>Key learnings, not a summary. </a:t>
            </a:r>
            <a:r>
              <a:rPr sz="1450" b="0" i="0">
                <a:solidFill>
                  <a:srgbClr val="37424F"/>
                </a:solidFill>
                <a:latin typeface="Calibri"/>
              </a:rPr>
              <a:t>We want the one or two things you now believe that you didn't before — the key learning, the number that changed your mind, and the surprise. The provocations in this pack are here to push you to a position.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YOUR FIVE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11820"/>
                </a:solidFill>
                <a:latin typeface="Calibri"/>
              </a:rPr>
              <a:t>Pick the data you're drawn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91440" cy="786384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0" cy="786384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640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10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11820"/>
                </a:solidFill>
                <a:latin typeface="Calibri"/>
              </a:rPr>
              <a:t>Market cycles &amp; shocks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6717F"/>
                </a:solidFill>
                <a:latin typeface="Calibri"/>
              </a:rPr>
              <a:t>Prices move in shock-driven cycles — and a small $/MWh move is a big move in returns.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33472"/>
            <a:ext cx="91440" cy="786384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33472"/>
            <a:ext cx="640080" cy="786384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640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0662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11820"/>
                </a:solidFill>
                <a:latin typeface="Calibri"/>
              </a:rPr>
              <a:t>Increasing renewable penetration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449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6717F"/>
                </a:solidFill>
                <a:latin typeface="Calibri"/>
              </a:rPr>
              <a:t>Storage is critical, and its volume climbs non-linearly toward 100% — a little gas tames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91440" cy="786384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29584"/>
            <a:ext cx="640080" cy="786384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9584"/>
            <a:ext cx="640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6027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11820"/>
                </a:solidFill>
                <a:latin typeface="Calibri"/>
              </a:rPr>
              <a:t>Through the lens of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410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6717F"/>
                </a:solidFill>
                <a:latin typeface="Calibri"/>
              </a:rPr>
              <a:t>Flat for a decade — could it double? Rooftop hid the growth; shape matters as much as size.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25696"/>
            <a:ext cx="91440" cy="786384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25696"/>
            <a:ext cx="640080" cy="786384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25696"/>
            <a:ext cx="640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988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11820"/>
                </a:solidFill>
                <a:latin typeface="Calibri"/>
              </a:rPr>
              <a:t>The economics of building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371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6717F"/>
                </a:solidFill>
                <a:latin typeface="Calibri"/>
              </a:rPr>
              <a:t>The more you build, the less it's worth — until coal leaves. Value cannibalises, then cycles back.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21808"/>
            <a:ext cx="91440" cy="786384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321808"/>
            <a:ext cx="640080" cy="786384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21808"/>
            <a:ext cx="6400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11820"/>
                </a:solidFill>
                <a:latin typeface="Calibri"/>
              </a:rPr>
              <a:t>Award vs concrete vs electrons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7332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6717F"/>
                </a:solidFill>
                <a:latin typeface="Calibri"/>
              </a:rPr>
              <a:t>Most of the pipeline is a mirage — proposed, committed and built are worlds apart.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ONE FRAME TO CARRY IN — AND A THREAD TO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11820"/>
                </a:solidFill>
                <a:latin typeface="Calibri"/>
              </a:rPr>
              <a:t>We go deep on the market because it's the force that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881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37424F"/>
                </a:solidFill>
                <a:latin typeface="Calibri"/>
              </a:rPr>
              <a:t>A development cycle runs for </a:t>
            </a:r>
            <a:r>
              <a:rPr sz="1800" b="1" i="0">
                <a:solidFill>
                  <a:srgbClr val="111820"/>
                </a:solidFill>
                <a:latin typeface="Calibri"/>
              </a:rPr>
              <a:t>years</a:t>
            </a:r>
            <a:r>
              <a:rPr sz="1800" b="0" i="0">
                <a:solidFill>
                  <a:srgbClr val="37424F"/>
                </a:solidFill>
                <a:latin typeface="Calibri"/>
              </a:rPr>
              <a:t>; the market cycle turns in </a:t>
            </a:r>
            <a:r>
              <a:rPr sz="1800" b="1" i="0">
                <a:solidFill>
                  <a:srgbClr val="111820"/>
                </a:solidFill>
                <a:latin typeface="Calibri"/>
              </a:rPr>
              <a:t>months</a:t>
            </a:r>
            <a:r>
              <a:rPr sz="1800" b="0" i="0">
                <a:solidFill>
                  <a:srgbClr val="37424F"/>
                </a:solidFill>
                <a:latin typeface="Calibri"/>
              </a:rPr>
              <a:t>. So today we read the market closely — it swings the most, and it's the one worth re-reading with fresh data. A project sits inside other forces too — policy and support, capital, the asset's own fundamentals — but we already know those reasonably well, so we hold them lightly and keep the lens on the market.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60520"/>
            <a:ext cx="11091672" cy="1234440"/>
          </a:xfrm>
          <a:prstGeom prst="rect">
            <a:avLst/>
          </a:prstGeom>
          <a:solidFill>
            <a:srgbClr val="E9E9FB"/>
          </a:solidFill>
          <a:ln w="9525">
            <a:solidFill>
              <a:srgbClr val="4A4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2976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4BD6"/>
                </a:solidFill>
                <a:latin typeface="Consolas"/>
              </a:rPr>
              <a:t>THE THREAD TO 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59028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11820"/>
                </a:solidFill>
                <a:latin typeface="Calibri"/>
              </a:rPr>
              <a:t>Day 2 — “So What?” — picks up right here: </a:t>
            </a:r>
            <a:r>
              <a:rPr sz="1450" b="0" i="0">
                <a:solidFill>
                  <a:srgbClr val="37424F"/>
                </a:solidFill>
                <a:latin typeface="Calibri"/>
              </a:rPr>
              <a:t>having read the market, what do we actually change in how we develop? No need to resolve it now — just hold the thought; it lands tomorrow.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66717F"/>
                </a:solidFill>
                <a:latin typeface="Calibri"/>
              </a:rPr>
              <a:t>The market is one force among several — today we simply give it the closest read.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170432"/>
            <a:ext cx="548640" cy="4572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71F"/>
                </a:solidFill>
                <a:latin typeface="Consolas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Market cycles &amp; shocks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2CAD4"/>
                </a:solidFill>
                <a:latin typeface="Calibri"/>
              </a:rPr>
              <a:t>Prices move in shock-driven cycles — and because capex is fixed, a small $/MWh move is a big move in returns.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solidFill>
            <a:srgbClr val="1C222C"/>
          </a:solidFill>
          <a:ln w="9525">
            <a:solidFill>
              <a:srgbClr val="B45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4571F"/>
                </a:solidFill>
                <a:latin typeface="Consolas"/>
              </a:rPr>
              <a:t>START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0740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Where are we in the cycle right now — a calm, well-supplied moment, or one heatwave and one broken boiler from the next spike?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71F"/>
                </a:solidFill>
                <a:latin typeface="Consolas"/>
              </a:rPr>
              <a:t>TOPIC 1 · MARKET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long view — a decade of prices, and the forward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B45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71F"/>
                </a:solidFill>
                <a:latin typeface="Consolas"/>
              </a:rPr>
              <a:t>Takeaway 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2022's gas shock towers over the decade; the last two points (CY27–28f) are the ASX forward — low and flat.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71F"/>
                </a:solidFill>
                <a:latin typeface="Consolas"/>
              </a:rPr>
              <a:t>TOPIC 1 · MARKET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data on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4571F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NSW wholesale: </a:t>
            </a:r>
            <a:r>
              <a:rPr sz="1600" b="1">
                <a:solidFill>
                  <a:srgbClr val="111820"/>
                </a:solidFill>
                <a:latin typeface="Calibri"/>
              </a:rPr>
              <a:t>$60 (2020) → $183 (2022) → $74 (2026 YTD)</a:t>
            </a:r>
            <a:r>
              <a:rPr sz="1600" b="0">
                <a:solidFill>
                  <a:srgbClr val="37424F"/>
                </a:solidFill>
                <a:latin typeface="Calibri"/>
              </a:rPr>
              <a:t>; QLD hit </a:t>
            </a:r>
            <a:r>
              <a:rPr sz="1600" b="1">
                <a:solidFill>
                  <a:srgbClr val="111820"/>
                </a:solidFill>
                <a:latin typeface="Calibri"/>
              </a:rPr>
              <a:t>$205 in 2022</a:t>
            </a:r>
            <a:r>
              <a:rPr sz="1600" b="0">
                <a:solidFill>
                  <a:srgbClr val="37424F"/>
                </a:solidFill>
                <a:latin typeface="Calibri"/>
              </a:rPr>
              <a:t> — 5× 2020.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4571F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June 2022: the NEM was suspended</a:t>
            </a:r>
            <a:r>
              <a:rPr sz="1600" b="0">
                <a:solidFill>
                  <a:srgbClr val="37424F"/>
                </a:solidFill>
                <a:latin typeface="Calibri"/>
              </a:rPr>
              <a:t> for the first time ever; the price cap held prices at $300.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4571F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Spike-hours (≥$300): NSW </a:t>
            </a:r>
            <a:r>
              <a:rPr sz="1600" b="1">
                <a:solidFill>
                  <a:srgbClr val="111820"/>
                </a:solidFill>
                <a:latin typeface="Calibri"/>
              </a:rPr>
              <a:t>1,393 in 2022 → 9 in 2026 YTD</a:t>
            </a:r>
            <a:r>
              <a:rPr sz="1600" b="0">
                <a:solidFill>
                  <a:srgbClr val="37424F"/>
                </a:solidFill>
                <a:latin typeface="Calibri"/>
              </a:rPr>
              <a:t>. The cap itself climbed $15k → $20k.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4571F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ASX forward (CY27–28):</a:t>
            </a:r>
            <a:r>
              <a:rPr sz="1600" b="0">
                <a:solidFill>
                  <a:srgbClr val="37424F"/>
                </a:solidFill>
                <a:latin typeface="Calibri"/>
              </a:rPr>
              <a:t> NSW ~$85, VIC ~$62–71 (cheapest), </a:t>
            </a:r>
            <a:r>
              <a:rPr sz="1600" b="1">
                <a:solidFill>
                  <a:srgbClr val="111820"/>
                </a:solidFill>
                <a:latin typeface="Calibri"/>
              </a:rPr>
              <a:t>SA in contango to ~$92</a:t>
            </a:r>
            <a:r>
              <a:rPr sz="1600" b="0">
                <a:solidFill>
                  <a:srgbClr val="37424F"/>
                </a:solidFill>
                <a:latin typeface="Calibri"/>
              </a:rPr>
              <a:t> — where projects hedge and lenders price risk.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4571F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21 GW of coal</a:t>
            </a:r>
            <a:r>
              <a:rPr sz="1600" b="0">
                <a:solidFill>
                  <a:srgbClr val="37424F"/>
                </a:solidFill>
                <a:latin typeface="Calibri"/>
              </a:rPr>
              <a:t> still operating; ~6 GW exits 2028–29 (Yallourn, Eraring, Gladstone).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4571F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Returns leverage: a </a:t>
            </a:r>
            <a:r>
              <a:rPr sz="1600" b="1">
                <a:solidFill>
                  <a:srgbClr val="111820"/>
                </a:solidFill>
                <a:latin typeface="Calibri"/>
              </a:rPr>
              <a:t>$10/MWh swing ≈ +1 pt</a:t>
            </a:r>
            <a:r>
              <a:rPr sz="1600" b="0">
                <a:solidFill>
                  <a:srgbClr val="37424F"/>
                </a:solidFill>
                <a:latin typeface="Calibri"/>
              </a:rPr>
              <a:t> ungeared yield (~+2.6 pt geared) off a fixed ~$3m/MW capex.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37424F"/>
                </a:solidFill>
                <a:latin typeface="Calibri"/>
              </a:rPr>
              <a:t>Today's outturns re-rate the forward curve above and the long-term forecasts that underwrite FID.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71F"/>
                </a:solidFill>
                <a:latin typeface="Consolas"/>
              </a:rPr>
              <a:t>TOPIC 1 · MARKET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Provocations — take a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1848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Is today a calm, well-supplied moment — or one shock from the next spike?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59736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What would a repeat of 2022 do to the revenue our pipeline is underwritten 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00984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Given the cycle, when in it would you want a project to reach FID?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42232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Does the escalating price cap make merchant exposure more attractive — or just wider?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4F6F9"/>
          </a:solidFill>
          <a:ln w="9525">
            <a:solidFill>
              <a:srgbClr val="B45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32704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4571F"/>
                </a:solidFill>
                <a:latin typeface="Consolas"/>
              </a:rPr>
              <a:t>YOUR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11820"/>
                </a:solidFill>
                <a:latin typeface="Calibri"/>
              </a:rPr>
              <a:t>Where do you think we sit in the cycle — and what would you do about timing?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170432"/>
            <a:ext cx="548640" cy="4572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Increasing renewable penetration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2CAD4"/>
                </a:solidFill>
                <a:latin typeface="Calibri"/>
              </a:rPr>
              <a:t>Storage is critical, and the volume you need climbs non-linearly toward 100% — a little firm gas tames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solidFill>
            <a:srgbClr val="1C222C"/>
          </a:solidFill>
          <a:ln w="9525">
            <a:solidFill>
              <a:srgbClr val="0D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D7D74"/>
                </a:solidFill>
                <a:latin typeface="Consolas"/>
              </a:rPr>
              <a:t>START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0740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To firm 90% wind + solar you need ~800 big batteries; 100% is a wall. How much gas keeps the number sane?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TOPIC 2 · RENEWABLES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long view — storage vs the target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0D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Takeaway 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Storage climbs far faster than linearly near 100%: ~50 batteries at 70%, ~800 at 90%, and 100% is a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TOPIC 2 · RENEWABLES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data on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0D7D74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The NEM is </a:t>
            </a:r>
            <a:r>
              <a:rPr sz="1600" b="1">
                <a:solidFill>
                  <a:srgbClr val="111820"/>
                </a:solidFill>
                <a:latin typeface="Calibri"/>
              </a:rPr>
              <a:t>~44% renewable today</a:t>
            </a:r>
            <a:r>
              <a:rPr sz="1600" b="0">
                <a:solidFill>
                  <a:srgbClr val="37424F"/>
                </a:solidFill>
                <a:latin typeface="Calibri"/>
              </a:rPr>
              <a:t> (grid wind+solar ~29%, plus hydro and rooftop).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0D7D74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Curtailment roughly </a:t>
            </a:r>
            <a:r>
              <a:rPr sz="1600" b="1">
                <a:solidFill>
                  <a:srgbClr val="111820"/>
                </a:solidFill>
                <a:latin typeface="Calibri"/>
              </a:rPr>
              <a:t>doubled to 7.4 TWh</a:t>
            </a:r>
            <a:r>
              <a:rPr sz="1600" b="0">
                <a:solidFill>
                  <a:srgbClr val="37424F"/>
                </a:solidFill>
                <a:latin typeface="Calibri"/>
              </a:rPr>
              <a:t> in two years; SA solar spills </a:t>
            </a:r>
            <a:r>
              <a:rPr sz="1600" b="1">
                <a:solidFill>
                  <a:srgbClr val="111820"/>
                </a:solidFill>
                <a:latin typeface="Calibri"/>
              </a:rPr>
              <a:t>34%</a:t>
            </a:r>
            <a:r>
              <a:rPr sz="1600" b="0">
                <a:solidFill>
                  <a:srgbClr val="37424F"/>
                </a:solidFill>
                <a:latin typeface="Calibri"/>
              </a:rPr>
              <a:t> of its output.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0D7D74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Firming 90% ≈ </a:t>
            </a:r>
            <a:r>
              <a:rPr sz="1600" b="1">
                <a:solidFill>
                  <a:srgbClr val="111820"/>
                </a:solidFill>
                <a:latin typeface="Calibri"/>
              </a:rPr>
              <a:t>800 four-hour “big batteries”</a:t>
            </a:r>
            <a:r>
              <a:rPr sz="1600" b="0">
                <a:solidFill>
                  <a:srgbClr val="37424F"/>
                </a:solidFill>
                <a:latin typeface="Calibri"/>
              </a:rPr>
              <a:t>; 100% can't be done with 4-hr BESS alone.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0D7D74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Least storage lands at a </a:t>
            </a:r>
            <a:r>
              <a:rPr sz="1600" b="1">
                <a:solidFill>
                  <a:srgbClr val="111820"/>
                </a:solidFill>
                <a:latin typeface="Calibri"/>
              </a:rPr>
              <a:t>balanced ~40–55% wind mix</a:t>
            </a:r>
            <a:r>
              <a:rPr sz="1600" b="0">
                <a:solidFill>
                  <a:srgbClr val="37424F"/>
                </a:solidFill>
                <a:latin typeface="Calibri"/>
              </a:rPr>
              <a:t>; the firming sweet spot keeps ~10–12% gas.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0D7D74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Storage now sets the price 31.5%</a:t>
            </a:r>
            <a:r>
              <a:rPr sz="1600" b="0">
                <a:solidFill>
                  <a:srgbClr val="37424F"/>
                </a:solidFill>
                <a:latin typeface="Calibri"/>
              </a:rPr>
              <a:t> of the time (0.1% in 2015) — as often as all fossil combined.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0D7D74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The objective isn't </a:t>
            </a:r>
            <a:r>
              <a:rPr sz="1600" b="1">
                <a:solidFill>
                  <a:srgbClr val="111820"/>
                </a:solidFill>
                <a:latin typeface="Calibri"/>
              </a:rPr>
              <a:t>0% spill</a:t>
            </a:r>
            <a:r>
              <a:rPr sz="1600" b="0">
                <a:solidFill>
                  <a:srgbClr val="37424F"/>
                </a:solidFill>
                <a:latin typeface="Calibri"/>
              </a:rPr>
              <a:t> — some is optimal; beyond a threshold, BESS time-shifts it into the evening.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37424F"/>
                </a:solidFill>
                <a:latin typeface="Calibri"/>
              </a:rPr>
              <a:t>Assumptions (teaching model): wind CF ~34%, solar CF ~32% potential; 4-hr BESS = 500 MW / 2 GWh; demand ~184 TWh.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TOPIC 2 · RENEWABLES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Scenario worksheet — record what you find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7424F"/>
                </a:solidFill>
                <a:latin typeface="Calibri"/>
              </a:rPr>
              <a:t>Open the live calculator (in the kit) and run these. Writing the outputs down is what makes the knee stick.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91672" cy="30632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/>
                <a:gridCol w="1399032"/>
                <a:gridCol w="1399032"/>
                <a:gridCol w="1399032"/>
                <a:gridCol w="1399032"/>
                <a:gridCol w="1399032"/>
                <a:gridCol w="13990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82296" marR="45720" marT="18288" marB="18288" anchor="ctr">
                    <a:solidFill>
                      <a:srgbClr val="0D7D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Target %</a:t>
                      </a:r>
                    </a:p>
                  </a:txBody>
                  <a:tcPr marL="82296" marR="45720" marT="18288" marB="18288" anchor="ctr">
                    <a:solidFill>
                      <a:srgbClr val="0D7D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Wind %</a:t>
                      </a:r>
                    </a:p>
                  </a:txBody>
                  <a:tcPr marL="82296" marR="45720" marT="18288" marB="18288" anchor="ctr">
                    <a:solidFill>
                      <a:srgbClr val="0D7D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Overbuild</a:t>
                      </a:r>
                    </a:p>
                  </a:txBody>
                  <a:tcPr marL="82296" marR="45720" marT="18288" marB="18288" anchor="ctr">
                    <a:solidFill>
                      <a:srgbClr val="0D7D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→ Batteries</a:t>
                      </a:r>
                    </a:p>
                  </a:txBody>
                  <a:tcPr marL="82296" marR="45720" marT="18288" marB="18288" anchor="ctr">
                    <a:solidFill>
                      <a:srgbClr val="0D7D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82296" marR="45720" marT="18288" marB="18288" anchor="ctr">
                    <a:solidFill>
                      <a:srgbClr val="0D7D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Curtail %</a:t>
                      </a:r>
                    </a:p>
                  </a:txBody>
                  <a:tcPr marL="82296" marR="45720" marT="18288" marB="18288" anchor="ctr">
                    <a:solidFill>
                      <a:srgbClr val="0D7D74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Today's stretch (~70%)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A deep build (~90%)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Push to 100%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Least-storage mix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Your own scenario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212080"/>
            <a:ext cx="11091672" cy="1097280"/>
          </a:xfrm>
          <a:prstGeom prst="rect">
            <a:avLst/>
          </a:prstGeom>
          <a:solidFill>
            <a:srgbClr val="F4F6F9"/>
          </a:solidFill>
          <a:ln w="9525">
            <a:solidFill>
              <a:srgbClr val="0D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D7D74"/>
                </a:solidFill>
                <a:latin typeface="Consolas"/>
              </a:rPr>
              <a:t>RECORD YOUR FINDING — THEN A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11820"/>
                </a:solidFill>
                <a:latin typeface="Calibri"/>
              </a:rPr>
              <a:t>The knee bites around ______% renewable.    Least storage is at ______% wind.    Keeping ~10% gas takes batteries from ______ to ______.    My hypothesis on the realistic target: 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TOPIC 2 · RENEWABLES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Provocations — take a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1848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Where does the storage “knee” bite — and how much gas keeps the number sane?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59736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Which wind/solar mix needs the least storage, and 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00984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Is 100% even the right target, or is the last slice a different technology problem?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42232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Overbuild-and-spill vs store — where's the crossover for your project?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4F6F9"/>
          </a:solidFill>
          <a:ln w="9525">
            <a:solidFill>
              <a:srgbClr val="0D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32704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D7D74"/>
                </a:solidFill>
                <a:latin typeface="Consolas"/>
              </a:rPr>
              <a:t>YOUR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11820"/>
                </a:solidFill>
                <a:latin typeface="Calibri"/>
              </a:rPr>
              <a:t>What's the realistic renewable target, and what firms the last mile — storage, gas, or overbuild?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170432"/>
            <a:ext cx="548640" cy="4572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Through the lens of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2CAD4"/>
                </a:solidFill>
                <a:latin typeface="Calibri"/>
              </a:rPr>
              <a:t>Demand's been flat for a decade — but that flatline hid real growth, and shape matters as much as size.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solidFill>
            <a:srgbClr val="1C222C"/>
          </a:solidFill>
          <a:ln w="9525">
            <a:solidFill>
              <a:srgbClr val="4A4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4BD6"/>
                </a:solidFill>
                <a:latin typeface="Consolas"/>
              </a:rPr>
              <a:t>START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0740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Rooftop quietly hid ~16 TWh of demand growth. Can it keep pace with EVs and data centres — or must the grid finally grow?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TOPIC 3 ·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long view — flat, then the climb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4A4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Takeaway 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Operational demand sat flat ~177 TWh; the 2026 ESOO central case bends up ~86% by 2050 to ~329 TWh (the range runs to ~2.8×).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TOPIC 3 ·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data on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A4BD6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Operational demand</a:t>
            </a:r>
            <a:r>
              <a:rPr sz="1600" b="0">
                <a:solidFill>
                  <a:srgbClr val="37424F"/>
                </a:solidFill>
                <a:latin typeface="Calibri"/>
              </a:rPr>
              <a:t> (grid supply after rooftop) was </a:t>
            </a:r>
            <a:r>
              <a:rPr sz="1600" b="1">
                <a:solidFill>
                  <a:srgbClr val="111820"/>
                </a:solidFill>
                <a:latin typeface="Calibri"/>
              </a:rPr>
              <a:t>flat ~177 TWh, 2020–25</a:t>
            </a:r>
            <a:r>
              <a:rPr sz="1600" b="0">
                <a:solidFill>
                  <a:srgbClr val="37424F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A4BD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But </a:t>
            </a:r>
            <a:r>
              <a:rPr sz="1600" b="1">
                <a:solidFill>
                  <a:srgbClr val="111820"/>
                </a:solidFill>
                <a:latin typeface="Calibri"/>
              </a:rPr>
              <a:t>rooftop hid +16 TWh</a:t>
            </a:r>
            <a:r>
              <a:rPr sz="1600" b="0">
                <a:solidFill>
                  <a:srgbClr val="37424F"/>
                </a:solidFill>
                <a:latin typeface="Calibri"/>
              </a:rPr>
              <a:t> behind the meter (13 → 29 TWh) — underlying use actually rose ~7%.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A4BD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2026 ESOO range to 2050: </a:t>
            </a:r>
            <a:r>
              <a:rPr sz="1600" b="1">
                <a:solidFill>
                  <a:srgbClr val="111820"/>
                </a:solidFill>
                <a:latin typeface="Calibri"/>
              </a:rPr>
              <a:t>1.5–2.8×</a:t>
            </a:r>
            <a:r>
              <a:rPr sz="1600" b="0">
                <a:solidFill>
                  <a:srgbClr val="37424F"/>
                </a:solidFill>
                <a:latin typeface="Calibri"/>
              </a:rPr>
              <a:t>; central Step Change </a:t>
            </a:r>
            <a:r>
              <a:rPr sz="1600" b="1">
                <a:solidFill>
                  <a:srgbClr val="111820"/>
                </a:solidFill>
                <a:latin typeface="Calibri"/>
              </a:rPr>
              <a:t>~329 TWh (+86%)</a:t>
            </a:r>
            <a:r>
              <a:rPr sz="1600" b="0">
                <a:solidFill>
                  <a:srgbClr val="37424F"/>
                </a:solidFill>
                <a:latin typeface="Calibri"/>
              </a:rPr>
              <a:t> — revised up from the ISP's ~290.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A4BD6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EV load 0.9 → 71 TWh</a:t>
            </a:r>
            <a:r>
              <a:rPr sz="1600" b="0">
                <a:solidFill>
                  <a:srgbClr val="37424F"/>
                </a:solidFill>
                <a:latin typeface="Calibri"/>
              </a:rPr>
              <a:t> (2026→2050); </a:t>
            </a:r>
            <a:r>
              <a:rPr sz="1600" b="1">
                <a:solidFill>
                  <a:srgbClr val="111820"/>
                </a:solidFill>
                <a:latin typeface="Calibri"/>
              </a:rPr>
              <a:t>data centres 5 → 34 TWh</a:t>
            </a:r>
            <a:r>
              <a:rPr sz="1600" b="0">
                <a:solidFill>
                  <a:srgbClr val="37424F"/>
                </a:solidFill>
                <a:latin typeface="Calibri"/>
              </a:rPr>
              <a:t> (3%→13%); rooftop installs ~2.7 GW/yr.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A4BD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Reliability: standard forecast </a:t>
            </a:r>
            <a:r>
              <a:rPr sz="1600" b="1">
                <a:solidFill>
                  <a:srgbClr val="111820"/>
                </a:solidFill>
                <a:latin typeface="Calibri"/>
              </a:rPr>
              <a:t>exceeded from 2030-31 (NSW/VIC)</a:t>
            </a:r>
            <a:r>
              <a:rPr sz="1600" b="0">
                <a:solidFill>
                  <a:srgbClr val="37424F"/>
                </a:solidFill>
                <a:latin typeface="Calibri"/>
              </a:rPr>
              <a:t> under committed+anticipated developments.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A4BD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Push rooftop to ~70 GW and </a:t>
            </a:r>
            <a:r>
              <a:rPr sz="1600" b="1">
                <a:solidFill>
                  <a:srgbClr val="111820"/>
                </a:solidFill>
                <a:latin typeface="Calibri"/>
              </a:rPr>
              <a:t>midday operational demand goes negative</a:t>
            </a:r>
            <a:r>
              <a:rPr sz="1600" b="0">
                <a:solidFill>
                  <a:srgbClr val="37424F"/>
                </a:solidFill>
                <a:latin typeface="Calibri"/>
              </a:rPr>
              <a:t> — the “canyon”.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4A4BD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Demand → price: </a:t>
            </a:r>
            <a:r>
              <a:rPr sz="1600" b="1">
                <a:solidFill>
                  <a:srgbClr val="111820"/>
                </a:solidFill>
                <a:latin typeface="Calibri"/>
              </a:rPr>
              <a:t>+1 GW ≈ +$20/MWh</a:t>
            </a:r>
            <a:r>
              <a:rPr sz="1600" b="0">
                <a:solidFill>
                  <a:srgbClr val="37424F"/>
                </a:solidFill>
                <a:latin typeface="Calibri"/>
              </a:rPr>
              <a:t> — so demand growth is a tailwind to the price cycle.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37424F"/>
                </a:solidFill>
                <a:latin typeface="Calibri"/>
              </a:rPr>
              <a:t>“Operational demand” = total electricity use minus what rooftop serves behind the meter — what the grid must supply.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TOPIC 3 ·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Scenario worksheet — record what you find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7424F"/>
                </a:solidFill>
                <a:latin typeface="Calibri"/>
              </a:rPr>
              <a:t>Open the live duck-curve calculator (in the kit) and run these. Record the belly and the peak — watch the shape move.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91672" cy="30632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/>
                <a:gridCol w="1399032"/>
                <a:gridCol w="1399032"/>
                <a:gridCol w="1399032"/>
                <a:gridCol w="1399032"/>
                <a:gridCol w="1399032"/>
                <a:gridCol w="13990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82296" marR="45720" marT="18288" marB="18288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Rooftop GW</a:t>
                      </a:r>
                    </a:p>
                  </a:txBody>
                  <a:tcPr marL="82296" marR="45720" marT="18288" marB="18288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 TWh</a:t>
                      </a:r>
                    </a:p>
                  </a:txBody>
                  <a:tcPr marL="82296" marR="45720" marT="18288" marB="18288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Managed %</a:t>
                      </a:r>
                    </a:p>
                  </a:txBody>
                  <a:tcPr marL="82296" marR="45720" marT="18288" marB="18288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Data-ctr GW</a:t>
                      </a:r>
                    </a:p>
                  </a:txBody>
                  <a:tcPr marL="82296" marR="45720" marT="18288" marB="18288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→ Belly (min)</a:t>
                      </a:r>
                    </a:p>
                  </a:txBody>
                  <a:tcPr marL="82296" marR="45720" marT="18288" marB="18288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Peak</a:t>
                      </a:r>
                    </a:p>
                  </a:txBody>
                  <a:tcPr marL="82296" marR="45720" marT="18288" marB="18288" anchor="ctr">
                    <a:solidFill>
                      <a:srgbClr val="4A4BD6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A ~2035 build-out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The rooftop 'canyon'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Unmanaged EV charging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0"/>
                          </a:solidFill>
                          <a:latin typeface="Calibri"/>
                        </a:rPr>
                        <a:t>Your own scenario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212080"/>
            <a:ext cx="11091672" cy="1097280"/>
          </a:xfrm>
          <a:prstGeom prst="rect">
            <a:avLst/>
          </a:prstGeom>
          <a:solidFill>
            <a:srgbClr val="F4F6F9"/>
          </a:solidFill>
          <a:ln w="9525">
            <a:solidFill>
              <a:srgbClr val="4A4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4BD6"/>
                </a:solidFill>
                <a:latin typeface="Consolas"/>
              </a:rPr>
              <a:t>RECORD YOUR FINDING — THEN A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11820"/>
                </a:solidFill>
                <a:latin typeface="Calibri"/>
              </a:rPr>
              <a:t>The belly goes negative at ______ GW of rooftop.    Managed → unmanaged EV swings the peak by ~______ GW.    My hypothesis — is it a size or a shape problem?  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TOPIC 3 ·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Provocations — take a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1848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Can rooftop keep pace with EV + electrification + data-centre load, or does the grid finally grow?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59736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Managed vs unmanaged EV charging — how big is the swing in the evening peak?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00984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Is the build problem now the evening ramp and midday trough, not annual TWh?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42232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Which of the three engines — EV, electrification, data centres — is nearest-term for us?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4F6F9"/>
          </a:solidFill>
          <a:ln w="9525">
            <a:solidFill>
              <a:srgbClr val="4A4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32704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4BD6"/>
                </a:solidFill>
                <a:latin typeface="Consolas"/>
              </a:rPr>
              <a:t>YOUR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11820"/>
                </a:solidFill>
                <a:latin typeface="Calibri"/>
              </a:rPr>
              <a:t>Does demand double — and is it a size problem or a shape problem?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170432"/>
            <a:ext cx="548640" cy="4572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economics of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2CAD4"/>
                </a:solidFill>
                <a:latin typeface="Calibri"/>
              </a:rPr>
              <a:t>The more you build, the less it's worth — until coal leaves. Value cannibalises, then cycles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solidFill>
            <a:srgbClr val="1C222C"/>
          </a:solidFill>
          <a:ln w="9525">
            <a:solidFill>
              <a:srgbClr val="B2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21E46"/>
                </a:solidFill>
                <a:latin typeface="Consolas"/>
              </a:rPr>
              <a:t>START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0740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Solar's captured value fell from 1.06× to 0.37× the pool — it did this to itself. Is the trough permanent?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long view — cannibalisation, and how it cycles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B2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Takeaway 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Solar's value factor collapsed as it built out — but it cycles: scarcity lifts it, oversupply crushes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Cannibalisation by state — and the 2026 bounce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B2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Takeaway 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Why 2025 was the trough: +2.8 GW of solar (a record) landed before storage caught up, so midday negative-price frequency roughly doubled (NSW 13→30%, QLD 39→53%). In 2026 new solar paused (+0.3 GW) and ~8 GW of batteries began soaking the midday trough — so capture recovered everywhere (QLD 0.28→0.50, NSW 0.43→0.63). 2026 is YTD, so read the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proof — more batteries, fewer negative middays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7424F"/>
                </a:solidFill>
                <a:latin typeface="Calibri"/>
              </a:rPr>
              <a:t>The states that added the most midday battery charging in 2026 saw midday negative prices collapse the most — almost exactly in rank order.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65960"/>
          <a:ext cx="10515600" cy="2432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263140"/>
                <a:gridCol w="2263140"/>
                <a:gridCol w="2263140"/>
                <a:gridCol w="226314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Batteries added ’25–26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Midday charging added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Negative middays ’25→’26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Midday capture ’25→’26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QLD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+3.2 GW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+647 GWh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53% → 30%  (−23)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$14 → $26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NSW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+2.6 GW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+568 GWh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30% → 11%  (−19)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$33 → $43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VIC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+1.9 GW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+287 GWh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40% → 38%  (−2)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$24 → $25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SA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+0.9 GW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+92 GWh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52% → 48%  (−4)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$17 → $27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166360"/>
            <a:ext cx="10515600" cy="1051560"/>
          </a:xfrm>
          <a:prstGeom prst="rect">
            <a:avLst/>
          </a:prstGeom>
          <a:solidFill>
            <a:srgbClr val="F4F6F9"/>
          </a:solidFill>
          <a:ln w="9525">
            <a:solidFill>
              <a:srgbClr val="B2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7608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7424F"/>
                </a:solidFill>
                <a:latin typeface="Calibri"/>
              </a:rPr>
              <a:t>Read the negative-midday drop — the direct “soaking” signal: QLD &amp; NSW built the most storage and got the biggest recovery. (Absolute prices also eased with a softer 2026 pool; SA's jump is off a tiny base, not battery-driven.) Midday = 9am–3pm, matched Jan–Aug.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battery mirror — spread, not value factor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B2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Takeaway 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A battery lives on the price spread. It compressed from ~$500–880 to ~$100–200 as the fleet grew 4 → 60 — but it cycles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Battery build by state — spread, size &amp;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7424F"/>
                </a:solidFill>
                <a:latin typeface="Calibri"/>
              </a:rPr>
              <a:t>Where the batteries are, how big and how long they last — against the spread they chase.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65960"/>
          <a:ext cx="10515600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508760"/>
                <a:gridCol w="1508760"/>
                <a:gridCol w="1508760"/>
                <a:gridCol w="1508760"/>
                <a:gridCol w="1508760"/>
                <a:gridCol w="150876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Spread (tb2)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Batteries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Power GW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Energy GWh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Building GW</a:t>
                      </a:r>
                    </a:p>
                  </a:txBody>
                  <a:tcPr marL="82296" marR="45720" marT="18288" marB="18288" anchor="ctr">
                    <a:solidFill>
                      <a:srgbClr val="B21E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NSW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$276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4.1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8.7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2.1 hr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QLD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$188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2.0 hr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VIC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$201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1.7 hr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SA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$384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1.7 hr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11820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82296" marR="45720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NEM</a:t>
                      </a:r>
                    </a:p>
                  </a:txBody>
                  <a:tcPr marL="82296" marR="45720" marT="18288" marB="18288" anchor="ctr">
                    <a:solidFill>
                      <a:srgbClr val="ECE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45720" marT="18288" marB="18288" anchor="ctr">
                    <a:solidFill>
                      <a:srgbClr val="ECE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82296" marR="45720" marT="18288" marB="18288" anchor="ctr">
                    <a:solidFill>
                      <a:srgbClr val="ECE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12.3</a:t>
                      </a:r>
                    </a:p>
                  </a:txBody>
                  <a:tcPr marL="82296" marR="45720" marT="18288" marB="18288" anchor="ctr">
                    <a:solidFill>
                      <a:srgbClr val="ECE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23.8</a:t>
                      </a:r>
                    </a:p>
                  </a:txBody>
                  <a:tcPr marL="82296" marR="45720" marT="18288" marB="18288" anchor="ctr">
                    <a:solidFill>
                      <a:srgbClr val="ECE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1.9 hr</a:t>
                      </a:r>
                    </a:p>
                  </a:txBody>
                  <a:tcPr marL="82296" marR="45720" marT="18288" marB="18288" anchor="ctr">
                    <a:solidFill>
                      <a:srgbClr val="ECE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11820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82296" marR="45720" marT="18288" marB="18288" anchor="ctr">
                    <a:solidFill>
                      <a:srgbClr val="ECE1E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166360"/>
            <a:ext cx="10515600" cy="1051560"/>
          </a:xfrm>
          <a:prstGeom prst="rect">
            <a:avLst/>
          </a:prstGeom>
          <a:solidFill>
            <a:srgbClr val="F4F6F9"/>
          </a:solidFill>
          <a:ln w="9525">
            <a:solidFill>
              <a:srgbClr val="B2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7608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7424F"/>
                </a:solidFill>
                <a:latin typeface="Calibri"/>
              </a:rPr>
              <a:t>The tell: SA has the widest spread but the smallest, shortest batteries (power / FCAS-focused); NSW &amp; QLD hold the biggest fleets on thinner spreads. The build pipeline is deeper (2.5–3 hr) — the fleet is lengthening as the easy spread compresses.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Battery spread by state, over time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B2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Takeaway 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SA stays the widest and most volatile; NSW, QLD and VIC have converged toward ~$100 as their fleets filled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data on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21E4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VIC </a:t>
            </a:r>
            <a:r>
              <a:rPr sz="1600" b="1">
                <a:solidFill>
                  <a:srgbClr val="111820"/>
                </a:solidFill>
                <a:latin typeface="Calibri"/>
              </a:rPr>
              <a:t>solar value factor: 1.06× (2019) → 0.37× (2023–24 trough) → 0.67× (2026 YTD)</a:t>
            </a:r>
            <a:r>
              <a:rPr sz="1600" b="0">
                <a:solidFill>
                  <a:srgbClr val="37424F"/>
                </a:solidFill>
                <a:latin typeface="Calibri"/>
              </a:rPr>
              <a:t>. It cycles.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21E46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Why 2025 was the trough:</a:t>
            </a:r>
            <a:r>
              <a:rPr sz="1600" b="0">
                <a:solidFill>
                  <a:srgbClr val="37424F"/>
                </a:solidFill>
                <a:latin typeface="Calibri"/>
              </a:rPr>
              <a:t> a record </a:t>
            </a:r>
            <a:r>
              <a:rPr sz="1600" b="1">
                <a:solidFill>
                  <a:srgbClr val="111820"/>
                </a:solidFill>
                <a:latin typeface="Calibri"/>
              </a:rPr>
              <a:t>+2.8 GW</a:t>
            </a:r>
            <a:r>
              <a:rPr sz="1600" b="0">
                <a:solidFill>
                  <a:srgbClr val="37424F"/>
                </a:solidFill>
                <a:latin typeface="Calibri"/>
              </a:rPr>
              <a:t> solar landed before storage caught up — </a:t>
            </a:r>
            <a:r>
              <a:rPr sz="1600" b="1">
                <a:solidFill>
                  <a:srgbClr val="111820"/>
                </a:solidFill>
                <a:latin typeface="Calibri"/>
              </a:rPr>
              <a:t>midday negatives ~doubled</a:t>
            </a:r>
            <a:r>
              <a:rPr sz="1600" b="0">
                <a:solidFill>
                  <a:srgbClr val="37424F"/>
                </a:solidFill>
                <a:latin typeface="Calibri"/>
              </a:rPr>
              <a:t> (NSW 13→30%); 2026's battery wave (~8 GW) soaked it back.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21E4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“</a:t>
            </a:r>
            <a:r>
              <a:rPr sz="1600" b="1">
                <a:solidFill>
                  <a:srgbClr val="111820"/>
                </a:solidFill>
                <a:latin typeface="Calibri"/>
              </a:rPr>
              <a:t>Darkest before dawn</a:t>
            </a:r>
            <a:r>
              <a:rPr sz="1600" b="0">
                <a:solidFill>
                  <a:srgbClr val="37424F"/>
                </a:solidFill>
                <a:latin typeface="Calibri"/>
              </a:rPr>
              <a:t>”: worst while coal floods the midday; as coal exits, evening scarcity returns value.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21E4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Batteries: </a:t>
            </a:r>
            <a:r>
              <a:rPr sz="1600" b="1">
                <a:solidFill>
                  <a:srgbClr val="111820"/>
                </a:solidFill>
                <a:latin typeface="Calibri"/>
              </a:rPr>
              <a:t>top-2hr spread ~$500–880 → ~$100–200</a:t>
            </a:r>
            <a:r>
              <a:rPr sz="1600" b="0">
                <a:solidFill>
                  <a:srgbClr val="37424F"/>
                </a:solidFill>
                <a:latin typeface="Calibri"/>
              </a:rPr>
              <a:t> as the fleet grew 4 → 60 — but it spikes in volatile months.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21E4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Compression is BESS </a:t>
            </a:r>
            <a:r>
              <a:rPr sz="1600" b="1">
                <a:solidFill>
                  <a:srgbClr val="111820"/>
                </a:solidFill>
                <a:latin typeface="Calibri"/>
              </a:rPr>
              <a:t>and</a:t>
            </a:r>
            <a:r>
              <a:rPr sz="1600" b="0">
                <a:solidFill>
                  <a:srgbClr val="37424F"/>
                </a:solidFill>
                <a:latin typeface="Calibri"/>
              </a:rPr>
              <a:t> benign conditions — coal still in, mild weather, high unit availability.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21E46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The fleet: </a:t>
            </a:r>
            <a:r>
              <a:rPr sz="1600" b="1">
                <a:solidFill>
                  <a:srgbClr val="111820"/>
                </a:solidFill>
                <a:latin typeface="Calibri"/>
              </a:rPr>
              <a:t>~65 batteries / 12.3 GW / 24 GWh operating; ~8 GW / 21 GWh committed</a:t>
            </a:r>
            <a:r>
              <a:rPr sz="1600" b="0">
                <a:solidFill>
                  <a:srgbClr val="37424F"/>
                </a:solidFill>
                <a:latin typeface="Calibri"/>
              </a:rPr>
              <a:t> and building.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B21E46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FCAS revenue fell ~90–95%</a:t>
            </a:r>
            <a:r>
              <a:rPr sz="1600" b="0">
                <a:solidFill>
                  <a:srgbClr val="37424F"/>
                </a:solidFill>
                <a:latin typeface="Calibri"/>
              </a:rPr>
              <a:t> in five years — a whole stream competed to near-zero.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37424F"/>
                </a:solidFill>
                <a:latin typeface="Calibri"/>
              </a:rPr>
              <a:t>Value factor is a generation idea; a battery's analog is the spread. Both erode as you build — and both 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TOPIC 4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Provocations — take a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1848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Is the value-factor trough permanent, or does coal-exit evening scarcity bring it back?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59736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Does that change whether — or when — you build, and whether to firm 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00984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The battery spread is compressing — is it BESS, benign conditions, or both? What happens next cycle?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42232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Would you build another unfirmed solar farm in this market?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4F6F9"/>
          </a:solidFill>
          <a:ln w="9525">
            <a:solidFill>
              <a:srgbClr val="B21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32704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21E46"/>
                </a:solidFill>
                <a:latin typeface="Consolas"/>
              </a:rPr>
              <a:t>YOUR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11820"/>
                </a:solidFill>
                <a:latin typeface="Calibri"/>
              </a:rPr>
              <a:t>Where's the value in 5 years — in energy, or in flexibility?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170432"/>
            <a:ext cx="548640" cy="4572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D3A"/>
                </a:solidFill>
                <a:latin typeface="Consolas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Award vs concrete vs electrons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2CAD4"/>
                </a:solidFill>
                <a:latin typeface="Calibri"/>
              </a:rPr>
              <a:t>Most of the pipeline is a mirage — the gap between proposed, committed and built is enormous.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solidFill>
            <a:srgbClr val="1C222C"/>
          </a:solidFill>
          <a:ln w="9525">
            <a:solidFill>
              <a:srgbClr val="2F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A"/>
                </a:solidFill>
                <a:latin typeface="Consolas"/>
              </a:rPr>
              <a:t>START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0740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Of 105 GW “proposed” in 2022, only ~9 GW got built. Which signals separate the real projects from the mirage?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D3A"/>
                </a:solidFill>
                <a:latin typeface="Consolas"/>
              </a:rPr>
              <a:t>TOPIC 5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long view — the mirage growing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2F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D3A"/>
                </a:solidFill>
                <a:latin typeface="Consolas"/>
              </a:rPr>
              <a:t>Takeaway 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Proposed capacity multiplied ~7× to 346 GW while committed and built crawled — the gap is the mirage.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D3A"/>
                </a:solidFill>
                <a:latin typeface="Consolas"/>
              </a:rPr>
              <a:t>TOPIC 5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The data on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7D3A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Proposed 346 GW vs committed ~13 GW vs built ~70 GW</a:t>
            </a:r>
            <a:r>
              <a:rPr sz="1600" b="0">
                <a:solidFill>
                  <a:srgbClr val="37424F"/>
                </a:solidFill>
                <a:latin typeface="Calibri"/>
              </a:rPr>
              <a:t> (2026) — a ~19:1 funnel.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7D3A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AEMO 2026 ESOO: </a:t>
            </a:r>
            <a:r>
              <a:rPr sz="1600" b="1">
                <a:solidFill>
                  <a:srgbClr val="111820"/>
                </a:solidFill>
                <a:latin typeface="Calibri"/>
              </a:rPr>
              <a:t>9.1 GW connected in 2025-26</a:t>
            </a:r>
            <a:r>
              <a:rPr sz="1600" b="0">
                <a:solidFill>
                  <a:srgbClr val="37424F"/>
                </a:solidFill>
                <a:latin typeface="Calibri"/>
              </a:rPr>
              <a:t> (&gt;2× the prior year); ~40 GW committed+anticipated — more than half today's NEM capacity.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7D3A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Back-test: of </a:t>
            </a:r>
            <a:r>
              <a:rPr sz="1600" b="1">
                <a:solidFill>
                  <a:srgbClr val="111820"/>
                </a:solidFill>
                <a:latin typeface="Calibri"/>
              </a:rPr>
              <a:t>105.7 GW proposed in 2022, only ~9.6 GW built, 52.6 GW dropped</a:t>
            </a:r>
            <a:r>
              <a:rPr sz="1600" b="0">
                <a:solidFill>
                  <a:srgbClr val="37424F"/>
                </a:solidFill>
                <a:latin typeface="Calibri"/>
              </a:rPr>
              <a:t> by 2026 (~9% conversion).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7D3A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Even “</a:t>
            </a:r>
            <a:r>
              <a:rPr sz="1600" b="1">
                <a:solidFill>
                  <a:srgbClr val="111820"/>
                </a:solidFill>
                <a:latin typeface="Calibri"/>
              </a:rPr>
              <a:t>Committed</a:t>
            </a:r>
            <a:r>
              <a:rPr sz="1600" b="0">
                <a:solidFill>
                  <a:srgbClr val="37424F"/>
                </a:solidFill>
                <a:latin typeface="Calibri"/>
              </a:rPr>
              <a:t>” isn't concrete: Snowy 2.0 has been committed 4+ years and still isn't built.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7D3A"/>
                </a:solidFill>
                <a:latin typeface="Calibri"/>
              </a:rPr>
              <a:t>▸  </a:t>
            </a:r>
            <a:r>
              <a:rPr sz="1600" b="1">
                <a:solidFill>
                  <a:srgbClr val="111820"/>
                </a:solidFill>
                <a:latin typeface="Calibri"/>
              </a:rPr>
              <a:t>CIS: ~32 GW contracted, just 0.29 GW operating</a:t>
            </a:r>
            <a:r>
              <a:rPr sz="1600" b="0">
                <a:solidFill>
                  <a:srgbClr val="37424F"/>
                </a:solidFill>
                <a:latin typeface="Calibri"/>
              </a:rPr>
              <a:t> — a floor price is not a built asset.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7D3A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Only </a:t>
            </a:r>
            <a:r>
              <a:rPr sz="1600" b="1">
                <a:solidFill>
                  <a:srgbClr val="111820"/>
                </a:solidFill>
                <a:latin typeface="Calibri"/>
              </a:rPr>
              <a:t>3 major transmission lines</a:t>
            </a:r>
            <a:r>
              <a:rPr sz="1600" b="0">
                <a:solidFill>
                  <a:srgbClr val="37424F"/>
                </a:solidFill>
                <a:latin typeface="Calibri"/>
              </a:rPr>
              <a:t> are in construction; ~30% of projects draw a full EPBC assessment.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2F7D3A"/>
                </a:solidFill>
                <a:latin typeface="Calibri"/>
              </a:rPr>
              <a:t>▸  </a:t>
            </a:r>
            <a:r>
              <a:rPr sz="1600" b="0">
                <a:solidFill>
                  <a:srgbClr val="37424F"/>
                </a:solidFill>
                <a:latin typeface="Calibri"/>
              </a:rPr>
              <a:t>Commissioning takes real time: </a:t>
            </a:r>
            <a:r>
              <a:rPr sz="1600" b="1">
                <a:solidFill>
                  <a:srgbClr val="111820"/>
                </a:solidFill>
                <a:latin typeface="Calibri"/>
              </a:rPr>
              <a:t>wind ~10 months, batteries ~7</a:t>
            </a:r>
            <a:r>
              <a:rPr sz="1600" b="0">
                <a:solidFill>
                  <a:srgbClr val="37424F"/>
                </a:solidFill>
                <a:latin typeface="Calibri"/>
              </a:rPr>
              <a:t> from first energisation.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37424F"/>
                </a:solidFill>
                <a:latin typeface="Calibri"/>
              </a:rPr>
              <a:t>The back-test is the crown jewel: “Committed” is a probability, not a promise — and the data can price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D3A"/>
                </a:solidFill>
                <a:latin typeface="Consolas"/>
              </a:rPr>
              <a:t>TOPIC 5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11820"/>
                </a:solidFill>
                <a:latin typeface="Calibri"/>
              </a:rPr>
              <a:t>Provocations — take a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1848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Which gate kills the most megawatts — connection, transmission, offtake, or planning?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59736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What early signal best separates the real projects from the mirage?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00984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Does our screening assume anything remotely as brutal as ~9% proposed-to-built?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42232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If you could unlock one transmission line, which frees the most generation?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4F6F9"/>
          </a:solidFill>
          <a:ln w="9525">
            <a:solidFill>
              <a:srgbClr val="2F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32704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A"/>
                </a:solidFill>
                <a:latin typeface="Consolas"/>
              </a:rPr>
              <a:t>YOUR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11820"/>
                </a:solidFill>
                <a:latin typeface="Calibri"/>
              </a:rPr>
              <a:t>What's the one signal you'll check before believing a “pipeline” number?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REPORT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11820"/>
                </a:solidFill>
                <a:latin typeface="Calibri"/>
              </a:rPr>
              <a:t>Three things — not a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66160" cy="2011680"/>
          </a:xfrm>
          <a:prstGeom prst="rect">
            <a:avLst/>
          </a:prstGeom>
          <a:solidFill>
            <a:srgbClr val="F4F6F9"/>
          </a:solidFill>
          <a:ln w="9525">
            <a:solidFill>
              <a:srgbClr val="4A4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109728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11820"/>
                </a:solidFill>
                <a:latin typeface="Calibri"/>
              </a:rPr>
              <a:t>The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7424F"/>
                </a:solidFill>
                <a:latin typeface="Calibri"/>
              </a:rPr>
              <a:t>Your position on the question — a view, not a recap.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828800"/>
            <a:ext cx="3566160" cy="2011680"/>
          </a:xfrm>
          <a:prstGeom prst="rect">
            <a:avLst/>
          </a:prstGeom>
          <a:solidFill>
            <a:srgbClr val="F4F6F9"/>
          </a:solidFill>
          <a:ln w="9525">
            <a:solidFill>
              <a:srgbClr val="0D7D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3566160" cy="109728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11820"/>
                </a:solidFill>
                <a:latin typeface="Calibri"/>
              </a:rPr>
              <a:t>The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6974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7424F"/>
                </a:solidFill>
                <a:latin typeface="Calibri"/>
              </a:rPr>
              <a:t>The single figure that changed your mind.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8" y="1828800"/>
            <a:ext cx="3566160" cy="2011680"/>
          </a:xfrm>
          <a:prstGeom prst="rect">
            <a:avLst/>
          </a:prstGeom>
          <a:solidFill>
            <a:srgbClr val="F4F6F9"/>
          </a:solidFill>
          <a:ln w="9525">
            <a:solidFill>
              <a:srgbClr val="B45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8" y="1828800"/>
            <a:ext cx="3566160" cy="109728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11820"/>
                </a:solidFill>
                <a:latin typeface="Calibri"/>
              </a:rPr>
              <a:t>The surprise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26974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7424F"/>
                </a:solidFill>
                <a:latin typeface="Calibri"/>
              </a:rPr>
              <a:t>The one “I didn't realise that” moment.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11820"/>
                </a:solidFill>
                <a:latin typeface="Calibri"/>
              </a:rPr>
              <a:t>Then, as a room: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0D7D74"/>
                </a:solidFill>
                <a:latin typeface="Calibri"/>
              </a:rPr>
              <a:t>▸  </a:t>
            </a:r>
            <a:r>
              <a:rPr sz="1500" b="0">
                <a:solidFill>
                  <a:srgbClr val="37424F"/>
                </a:solidFill>
                <a:latin typeface="Calibri"/>
              </a:rPr>
              <a:t>Is 100% renewable the right target — or do we plan for ~90% + firm gas?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0D7D74"/>
                </a:solidFill>
                <a:latin typeface="Calibri"/>
              </a:rPr>
              <a:t>▸  </a:t>
            </a:r>
            <a:r>
              <a:rPr sz="1500" b="0">
                <a:solidFill>
                  <a:srgbClr val="37424F"/>
                </a:solidFill>
                <a:latin typeface="Calibri"/>
              </a:rPr>
              <a:t>Would you build another unfirmed solar farm in this market?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0D7D74"/>
                </a:solidFill>
                <a:latin typeface="Calibri"/>
              </a:rPr>
              <a:t>▸  </a:t>
            </a:r>
            <a:r>
              <a:rPr sz="1500" b="0">
                <a:solidFill>
                  <a:srgbClr val="37424F"/>
                </a:solidFill>
                <a:latin typeface="Calibri"/>
              </a:rPr>
              <a:t>Heatwave, broken boiler, or data-centre boom — what's the biggest risk to the grid we're building for?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Reading the NEM · Power Development Team Day · figures from the AusEnergy Lens (AEMO + ISP 2026), as-at Aug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Every figure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2CAD4"/>
                </a:solidFill>
                <a:latin typeface="Calibri"/>
              </a:rPr>
              <a:t>Sourced from the AusEnergy “Lens” — a live database over the AEMO dispatch decade (2015→2026), the 2026 ESOO + ISP 2026, Open Electricity and the CER. As-at August 2026. The calculators and the storage/leverage figures are transparent teaching models, not planning tools — the point is the shape of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A8BF0"/>
                </a:solidFill>
                <a:latin typeface="Calibri"/>
              </a:rPr>
              <a:t>This is the paper cut. </a:t>
            </a:r>
            <a:r>
              <a:rPr sz="1350" b="0" i="0">
                <a:solidFill>
                  <a:srgbClr val="C2CAD4"/>
                </a:solidFill>
                <a:latin typeface="Calibri"/>
              </a:rPr>
              <a:t>The interactive version holds more — the two live calculators and the full “datasets on the table” for each topic. We'll find a clean way to surface those to the wider team afterwards.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D7D74"/>
                </a:solidFill>
                <a:latin typeface="Consolas"/>
              </a:rPr>
              <a:t>Explore it all live:  travis-coder712.github.io/studio/nem-team-day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